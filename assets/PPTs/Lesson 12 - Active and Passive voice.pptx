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4" r:id="rId3"/>
    <p:sldId id="275" r:id="rId4"/>
    <p:sldId id="276" r:id="rId5"/>
    <p:sldId id="27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6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9DF29-994F-4016-A72F-FA035FF84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36878-561A-07F1-5BB5-3A8456C6B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FEED8-A0D0-F62F-B03B-047616EEC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EDB3F-549E-EE9E-C348-062FB16B1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A14A6-AD7C-46C4-B2BF-870AE88E5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5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377AD-E51D-4961-2357-4A3B492F5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4B6D4-D220-7E00-2043-97BF4CE72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4BFE5-51B0-8F76-9EA1-AB9627A72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A4987-FBD0-078F-42C7-92EA735A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BC86E-FBB6-9711-A5D1-3540F44AF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9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4BC26-D83A-7B77-9027-71BF3942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3A666-9FDB-297A-5F20-5769C6D37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8E80C-732A-2A63-C2FC-42E575402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9D767-C239-35F9-EC13-B8A226C76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91574-FC30-138A-ED2A-FB692F5D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70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35034-AA35-99B9-FC59-34ADCEE4F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D7426-886E-3EC9-AABC-8EEE1D1CB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D36E6-D303-5EE5-25B8-C0144320B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6557E-618B-A959-B873-09FF14916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0AECC-F36F-1F1A-3977-CC87E6280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16510-4F28-CA06-D101-BAE71F2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643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2201-B5AE-163B-F61F-5C0F44874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96307-3E99-9FC1-32FB-ABA0DA62C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76FF9-A7B1-B65B-3D08-BE1B58753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6BDF89-81B9-49DE-9A84-D53D27D08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AB6D9A-BE20-6289-1768-22CD7CB5F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5200BB-3BA0-56F0-0C1C-40E34F140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F459F0-9FE4-0EA4-9E11-896B914EA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143783-3387-666B-BBFE-0AB2502A1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83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C739-A682-0DF3-0417-776522A4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6E69B4-B217-F44A-AEB4-A7A1E8E8B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847F3B-A8D4-C3C3-AA08-D7EF016B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F91BC-6C82-B366-521F-A6D93887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62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68CEF-ECCA-E4CF-960C-A827303B9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8E9057-F29F-B07D-7486-3B0A6BDC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EA31C-0AB0-C4A5-88D7-76E6B6BA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4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43E1-EE33-C85C-335D-D0C53222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CF8-15D0-D991-2636-358E89622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D545F-14EC-E670-91DA-D27C5B209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4593B-5A10-6FE0-804F-8806C96B9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F9B53-457D-BCA9-79F1-CFACE938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99203-2DA0-6665-A713-BA316456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88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35A1-3F15-7C8E-9973-0C4BFEBFC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EEBA8B-6A12-443D-582F-1C1DE11E9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4B03E-829C-A89B-DEF4-956D8949E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59819-931A-3CC2-36BC-19012E8C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D8038-DA20-46C1-BE2B-704446EF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0368A-BF1F-BB78-FFD0-8EF33DE99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33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D3315-5CDF-21DE-4236-389DED53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9DB7E-E672-75B4-204C-951794C43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775F3-35BB-57DF-908A-6B7F5901E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78F3B-8B2B-9B71-4835-D04B5F2FB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FAE83-5B61-233C-A8C6-628772802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10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9EDAAC-FF64-C3A4-BD3D-F33EB230C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78314C-869E-7A74-EDFC-272ABE107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98511-5020-12CE-7697-CD0FDB5BD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A7DE9-6E61-7342-2FE2-20C37C51D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69229-5968-F9F3-744A-AB29925F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88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49000">
              <a:srgbClr val="004660"/>
            </a:gs>
            <a:gs pos="97000">
              <a:schemeClr val="tx1">
                <a:lumMod val="95000"/>
                <a:lumOff val="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41F230-F08F-88FB-9ED2-925D06F07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E0377-A45D-2469-26F5-C44A0755C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CB6F1-1915-2899-DE90-60A24026E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BA894-39C2-64DC-A6F4-085688495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D84B7-9EED-586C-0BB2-E5811B61A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4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4C1DC6-3E41-96A6-A7D6-EB4E0DAA8EA7}"/>
              </a:ext>
            </a:extLst>
          </p:cNvPr>
          <p:cNvSpPr txBox="1"/>
          <p:nvPr/>
        </p:nvSpPr>
        <p:spPr>
          <a:xfrm>
            <a:off x="690513" y="2589582"/>
            <a:ext cx="10810973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900" b="1" dirty="0">
                <a:ln w="57150">
                  <a:solidFill>
                    <a:schemeClr val="bg1"/>
                  </a:solidFill>
                  <a:prstDash val="solid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ENGLISH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47560C-F03A-851C-E4C0-4199A9A8B2B6}"/>
              </a:ext>
            </a:extLst>
          </p:cNvPr>
          <p:cNvSpPr txBox="1"/>
          <p:nvPr/>
        </p:nvSpPr>
        <p:spPr>
          <a:xfrm>
            <a:off x="690513" y="1488567"/>
            <a:ext cx="6058069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SPOKEN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F995EFD6-756A-C993-DF1B-95B7BEA9A049}"/>
              </a:ext>
            </a:extLst>
          </p:cNvPr>
          <p:cNvSpPr/>
          <p:nvPr/>
        </p:nvSpPr>
        <p:spPr>
          <a:xfrm>
            <a:off x="10058400" y="0"/>
            <a:ext cx="1585913" cy="2000249"/>
          </a:xfrm>
          <a:prstGeom prst="foldedCorner">
            <a:avLst>
              <a:gd name="adj" fmla="val 30717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Aptos Narrow" panose="020B000402020202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03117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2093141" y="1691644"/>
            <a:ext cx="454162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latin typeface="Montserrat Bold" panose="00000800000000000000" pitchFamily="2" charset="0"/>
              </a:rPr>
              <a:t>ACTIVE</a:t>
            </a:r>
            <a:endParaRPr lang="en-IN" sz="8800" dirty="0">
              <a:solidFill>
                <a:schemeClr val="bg1"/>
              </a:solidFill>
              <a:latin typeface="Montserrat Bold" panose="000008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CBFF0D-1761-D260-A539-182D5073273E}"/>
              </a:ext>
            </a:extLst>
          </p:cNvPr>
          <p:cNvSpPr txBox="1"/>
          <p:nvPr/>
        </p:nvSpPr>
        <p:spPr>
          <a:xfrm>
            <a:off x="6634769" y="1982311"/>
            <a:ext cx="78098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rgbClr val="00B0F0"/>
                </a:solidFill>
                <a:latin typeface="Luthon Southard Script" panose="02000600000000000000" pitchFamily="50" charset="0"/>
              </a:rPr>
              <a:t>&amp;</a:t>
            </a:r>
            <a:endParaRPr lang="en-IN" sz="8800" dirty="0">
              <a:solidFill>
                <a:srgbClr val="00B0F0"/>
              </a:solidFill>
              <a:latin typeface="Luthon Southard Script" panose="02000600000000000000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9CAE11-F70C-1C31-234A-B591547EC37B}"/>
              </a:ext>
            </a:extLst>
          </p:cNvPr>
          <p:cNvSpPr txBox="1"/>
          <p:nvPr/>
        </p:nvSpPr>
        <p:spPr>
          <a:xfrm>
            <a:off x="4152956" y="2996532"/>
            <a:ext cx="528221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latin typeface="Montserrat Bold" panose="00000800000000000000" pitchFamily="2" charset="0"/>
              </a:rPr>
              <a:t>PASSIVE</a:t>
            </a:r>
            <a:endParaRPr lang="en-IN" sz="8800" dirty="0">
              <a:solidFill>
                <a:schemeClr val="bg1"/>
              </a:solidFill>
              <a:latin typeface="Montserrat Bold" panose="000008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763E9-A707-34B3-93B0-C79156623381}"/>
              </a:ext>
            </a:extLst>
          </p:cNvPr>
          <p:cNvSpPr txBox="1"/>
          <p:nvPr/>
        </p:nvSpPr>
        <p:spPr>
          <a:xfrm>
            <a:off x="6031398" y="3847335"/>
            <a:ext cx="276870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rgbClr val="00B0F0"/>
                </a:solidFill>
                <a:latin typeface="Signatie" panose="02000500000000000000" pitchFamily="2" charset="0"/>
              </a:rPr>
              <a:t>Voice</a:t>
            </a:r>
            <a:endParaRPr lang="en-IN" sz="8800" dirty="0">
              <a:solidFill>
                <a:srgbClr val="00B0F0"/>
              </a:solidFill>
              <a:latin typeface="Signatie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986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804667" y="804507"/>
            <a:ext cx="4019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Montserrat Bold" panose="00000800000000000000" pitchFamily="2" charset="0"/>
              </a:rPr>
              <a:t>ACTIVE VOICE</a:t>
            </a:r>
            <a:endParaRPr lang="en-IN" sz="4000" dirty="0">
              <a:solidFill>
                <a:schemeClr val="bg1"/>
              </a:solidFill>
              <a:latin typeface="Montserrat Bold" panose="000008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5E232B-4341-7C71-25ED-EA13FAA7D39D}"/>
              </a:ext>
            </a:extLst>
          </p:cNvPr>
          <p:cNvSpPr txBox="1"/>
          <p:nvPr/>
        </p:nvSpPr>
        <p:spPr>
          <a:xfrm>
            <a:off x="1724451" y="1989984"/>
            <a:ext cx="87430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In active voice, the subject performs the action </a:t>
            </a:r>
          </a:p>
          <a:p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expressed by the verb. The structure is typically:</a:t>
            </a:r>
            <a:endParaRPr lang="en-IN" sz="2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EE3C37-9001-9B39-2F58-1FB4A3E46072}"/>
              </a:ext>
            </a:extLst>
          </p:cNvPr>
          <p:cNvSpPr txBox="1"/>
          <p:nvPr/>
        </p:nvSpPr>
        <p:spPr>
          <a:xfrm>
            <a:off x="3880490" y="3448386"/>
            <a:ext cx="4431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highlight>
                  <a:srgbClr val="800000"/>
                </a:highlight>
                <a:latin typeface="Montserrat" panose="00000500000000000000" pitchFamily="2" charset="0"/>
              </a:rPr>
              <a:t>Subject + Verb + Object</a:t>
            </a:r>
            <a:endParaRPr lang="en-IN" sz="2800" dirty="0">
              <a:solidFill>
                <a:schemeClr val="bg1"/>
              </a:solidFill>
              <a:highlight>
                <a:srgbClr val="800000"/>
              </a:highlight>
              <a:latin typeface="Montserrat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5480FD-8AC5-A018-7844-8B3DEB1314B3}"/>
              </a:ext>
            </a:extLst>
          </p:cNvPr>
          <p:cNvSpPr txBox="1"/>
          <p:nvPr/>
        </p:nvSpPr>
        <p:spPr>
          <a:xfrm>
            <a:off x="2477862" y="4385847"/>
            <a:ext cx="72362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"The chef + prepares + delicious meals” </a:t>
            </a:r>
            <a:endParaRPr lang="en-IN" sz="2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829A25-C774-5F53-072A-F55368091D06}"/>
              </a:ext>
            </a:extLst>
          </p:cNvPr>
          <p:cNvSpPr txBox="1"/>
          <p:nvPr/>
        </p:nvSpPr>
        <p:spPr>
          <a:xfrm>
            <a:off x="928560" y="5641019"/>
            <a:ext cx="103348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Montserrat" panose="00000500000000000000" pitchFamily="2" charset="0"/>
              </a:rPr>
              <a:t>In this sentence, the subject "chef" is performing the action of preparing meals.</a:t>
            </a:r>
            <a:endParaRPr lang="en-IN" sz="2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129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804667" y="804507"/>
            <a:ext cx="43540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Montserrat Bold" panose="00000800000000000000" pitchFamily="2" charset="0"/>
              </a:rPr>
              <a:t>PASSIVE VOICE</a:t>
            </a:r>
            <a:endParaRPr lang="en-IN" sz="4000" dirty="0">
              <a:solidFill>
                <a:schemeClr val="bg1"/>
              </a:solidFill>
              <a:latin typeface="Montserrat Bold" panose="000008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5E232B-4341-7C71-25ED-EA13FAA7D39D}"/>
              </a:ext>
            </a:extLst>
          </p:cNvPr>
          <p:cNvSpPr txBox="1"/>
          <p:nvPr/>
        </p:nvSpPr>
        <p:spPr>
          <a:xfrm>
            <a:off x="1724451" y="1989984"/>
            <a:ext cx="87430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In passive voice, the subject receives the action </a:t>
            </a:r>
          </a:p>
          <a:p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expressed by the verb. The structure is typically:</a:t>
            </a:r>
            <a:endParaRPr lang="en-IN" sz="2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EE3C37-9001-9B39-2F58-1FB4A3E46072}"/>
              </a:ext>
            </a:extLst>
          </p:cNvPr>
          <p:cNvSpPr txBox="1"/>
          <p:nvPr/>
        </p:nvSpPr>
        <p:spPr>
          <a:xfrm>
            <a:off x="1481596" y="3448386"/>
            <a:ext cx="9228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highlight>
                  <a:srgbClr val="800000"/>
                </a:highlight>
                <a:latin typeface="Montserrat" panose="00000500000000000000" pitchFamily="2" charset="0"/>
              </a:rPr>
              <a:t>Object + be + Past Participle of Verb + by + Subject</a:t>
            </a:r>
            <a:endParaRPr lang="en-IN" sz="2800" dirty="0">
              <a:solidFill>
                <a:schemeClr val="bg1"/>
              </a:solidFill>
              <a:highlight>
                <a:srgbClr val="800000"/>
              </a:highlight>
              <a:latin typeface="Montserrat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5480FD-8AC5-A018-7844-8B3DEB1314B3}"/>
              </a:ext>
            </a:extLst>
          </p:cNvPr>
          <p:cNvSpPr txBox="1"/>
          <p:nvPr/>
        </p:nvSpPr>
        <p:spPr>
          <a:xfrm>
            <a:off x="1689986" y="4385847"/>
            <a:ext cx="8812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"Delicious meals + are + prepared + by the chef"</a:t>
            </a:r>
            <a:endParaRPr lang="en-IN" sz="2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829A25-C774-5F53-072A-F55368091D06}"/>
              </a:ext>
            </a:extLst>
          </p:cNvPr>
          <p:cNvSpPr txBox="1"/>
          <p:nvPr/>
        </p:nvSpPr>
        <p:spPr>
          <a:xfrm>
            <a:off x="1339730" y="5401027"/>
            <a:ext cx="95125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Montserrat" panose="00000500000000000000" pitchFamily="2" charset="0"/>
              </a:rPr>
              <a:t>Here, the object "delicious meals" is the focus of the sentence, 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Montserrat" panose="00000500000000000000" pitchFamily="2" charset="0"/>
              </a:rPr>
              <a:t>and the verb "are prepared" shows that the meals are being acted upon. </a:t>
            </a:r>
            <a:endParaRPr lang="en-IN" sz="2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098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804667" y="804507"/>
            <a:ext cx="45720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Montserrat Bold" panose="00000800000000000000" pitchFamily="2" charset="0"/>
              </a:rPr>
              <a:t>Key Differences:</a:t>
            </a:r>
            <a:endParaRPr lang="en-IN" sz="4000" dirty="0">
              <a:solidFill>
                <a:schemeClr val="bg1"/>
              </a:solidFill>
              <a:latin typeface="Montserrat Bold" panose="000008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5E232B-4341-7C71-25ED-EA13FAA7D39D}"/>
              </a:ext>
            </a:extLst>
          </p:cNvPr>
          <p:cNvSpPr txBox="1"/>
          <p:nvPr/>
        </p:nvSpPr>
        <p:spPr>
          <a:xfrm>
            <a:off x="1222711" y="2018965"/>
            <a:ext cx="35734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Montserrat" panose="00000500000000000000" pitchFamily="2" charset="0"/>
              </a:rPr>
              <a:t>Focus of Sentence:</a:t>
            </a:r>
            <a:endParaRPr lang="en-IN" sz="2800" dirty="0">
              <a:solidFill>
                <a:srgbClr val="00B0F0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829A25-C774-5F53-072A-F55368091D06}"/>
              </a:ext>
            </a:extLst>
          </p:cNvPr>
          <p:cNvSpPr txBox="1"/>
          <p:nvPr/>
        </p:nvSpPr>
        <p:spPr>
          <a:xfrm>
            <a:off x="1637087" y="5401027"/>
            <a:ext cx="89178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Montserrat" panose="00000500000000000000" pitchFamily="2" charset="0"/>
              </a:rPr>
              <a:t>Active voice uses standard verb forms, whereas passive voice uses a </a:t>
            </a:r>
          </a:p>
          <a:p>
            <a:r>
              <a:rPr lang="en-US" sz="2000" dirty="0">
                <a:solidFill>
                  <a:schemeClr val="bg1"/>
                </a:solidFill>
                <a:latin typeface="Montserrat" panose="00000500000000000000" pitchFamily="2" charset="0"/>
              </a:rPr>
              <a:t>form of "be" plus the past participle of the verb.</a:t>
            </a:r>
            <a:endParaRPr lang="en-IN" sz="2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AB2EB9-C9DF-8C54-E3AC-D88C88CE59EE}"/>
              </a:ext>
            </a:extLst>
          </p:cNvPr>
          <p:cNvSpPr txBox="1"/>
          <p:nvPr/>
        </p:nvSpPr>
        <p:spPr>
          <a:xfrm>
            <a:off x="1637087" y="2513204"/>
            <a:ext cx="92448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Montserrat" panose="00000500000000000000" pitchFamily="2" charset="0"/>
              </a:rPr>
              <a:t>Active voice emphasizes the doer of the action, </a:t>
            </a:r>
          </a:p>
          <a:p>
            <a:r>
              <a:rPr lang="en-US" sz="2000" dirty="0">
                <a:solidFill>
                  <a:schemeClr val="bg1"/>
                </a:solidFill>
                <a:latin typeface="Montserrat" panose="00000500000000000000" pitchFamily="2" charset="0"/>
              </a:rPr>
              <a:t>while passive voice emphasizes the action or the receiver of the action.</a:t>
            </a:r>
            <a:endParaRPr lang="en-IN" sz="2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D46F13-A5DF-6B01-70D8-7FF80497C2D4}"/>
              </a:ext>
            </a:extLst>
          </p:cNvPr>
          <p:cNvSpPr txBox="1"/>
          <p:nvPr/>
        </p:nvSpPr>
        <p:spPr>
          <a:xfrm>
            <a:off x="1222711" y="3418238"/>
            <a:ext cx="3858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Montserrat" panose="00000500000000000000" pitchFamily="2" charset="0"/>
              </a:rPr>
              <a:t>Sentence Structure: </a:t>
            </a:r>
            <a:endParaRPr lang="en-IN" sz="2800" dirty="0">
              <a:solidFill>
                <a:srgbClr val="00B0F0"/>
              </a:solidFill>
              <a:latin typeface="Montserrat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F2A01F-57D1-F6F1-EC9E-B2D388575A2A}"/>
              </a:ext>
            </a:extLst>
          </p:cNvPr>
          <p:cNvSpPr txBox="1"/>
          <p:nvPr/>
        </p:nvSpPr>
        <p:spPr>
          <a:xfrm>
            <a:off x="1222711" y="4817511"/>
            <a:ext cx="23631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Montserrat" panose="00000500000000000000" pitchFamily="2" charset="0"/>
              </a:rPr>
              <a:t>Verb Forms:</a:t>
            </a:r>
            <a:endParaRPr lang="en-IN" sz="2800" dirty="0">
              <a:solidFill>
                <a:srgbClr val="00B0F0"/>
              </a:solidFill>
              <a:latin typeface="Montserrat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2F87E7-02E7-CF97-84BF-E997787F9E25}"/>
              </a:ext>
            </a:extLst>
          </p:cNvPr>
          <p:cNvSpPr txBox="1"/>
          <p:nvPr/>
        </p:nvSpPr>
        <p:spPr>
          <a:xfrm>
            <a:off x="1637087" y="3957116"/>
            <a:ext cx="95365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Montserrat" panose="00000500000000000000" pitchFamily="2" charset="0"/>
              </a:rPr>
              <a:t>Active voice has a straightforward structure with the subject performing </a:t>
            </a:r>
          </a:p>
          <a:p>
            <a:r>
              <a:rPr lang="en-US" sz="2000" dirty="0">
                <a:solidFill>
                  <a:schemeClr val="bg1"/>
                </a:solidFill>
                <a:latin typeface="Montserrat" panose="00000500000000000000" pitchFamily="2" charset="0"/>
              </a:rPr>
              <a:t>the action, whereas passive voice shifts the focus away from the subject.</a:t>
            </a:r>
            <a:endParaRPr lang="en-IN" sz="2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250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219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Aharoni</vt:lpstr>
      <vt:lpstr>Aptos Narrow</vt:lpstr>
      <vt:lpstr>Arial</vt:lpstr>
      <vt:lpstr>Calibri</vt:lpstr>
      <vt:lpstr>Calibri Light</vt:lpstr>
      <vt:lpstr>Luthon Southard Script</vt:lpstr>
      <vt:lpstr>Montserrat</vt:lpstr>
      <vt:lpstr>Montserrat Bold</vt:lpstr>
      <vt:lpstr>Signatie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IPA BFSBC</dc:creator>
  <cp:lastModifiedBy>IPA BFSBC</cp:lastModifiedBy>
  <cp:revision>49</cp:revision>
  <dcterms:created xsi:type="dcterms:W3CDTF">2024-01-28T15:20:08Z</dcterms:created>
  <dcterms:modified xsi:type="dcterms:W3CDTF">2024-05-07T09:38:54Z</dcterms:modified>
</cp:coreProperties>
</file>