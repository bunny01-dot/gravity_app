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58" r:id="rId5"/>
    <p:sldId id="262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9DF29-994F-4016-A72F-FA035FF84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36878-561A-07F1-5BB5-3A8456C6B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FEED8-A0D0-F62F-B03B-047616EEC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EDB3F-549E-EE9E-C348-062FB16B1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A14A6-AD7C-46C4-B2BF-870AE88E5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58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377AD-E51D-4961-2357-4A3B492F5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4B6D4-D220-7E00-2043-97BF4CE72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4BFE5-51B0-8F76-9EA1-AB9627A72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A4987-FBD0-078F-42C7-92EA735AF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BC86E-FBB6-9711-A5D1-3540F44AF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93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4BC26-D83A-7B77-9027-71BF3942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3A666-9FDB-297A-5F20-5769C6D37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8E80C-732A-2A63-C2FC-42E575402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9D767-C239-35F9-EC13-B8A226C76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91574-FC30-138A-ED2A-FB692F5D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70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35034-AA35-99B9-FC59-34ADCEE4F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D7426-886E-3EC9-AABC-8EEE1D1CB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D36E6-D303-5EE5-25B8-C0144320B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6557E-618B-A959-B873-09FF14916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0AECC-F36F-1F1A-3977-CC87E6280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16510-4F28-CA06-D101-BAE71F2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643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2201-B5AE-163B-F61F-5C0F44874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96307-3E99-9FC1-32FB-ABA0DA62C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76FF9-A7B1-B65B-3D08-BE1B58753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6BDF89-81B9-49DE-9A84-D53D27D08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AB6D9A-BE20-6289-1768-22CD7CB5F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5200BB-3BA0-56F0-0C1C-40E34F140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F459F0-9FE4-0EA4-9E11-896B914EA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143783-3387-666B-BBFE-0AB2502A1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783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3C739-A682-0DF3-0417-776522A45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6E69B4-B217-F44A-AEB4-A7A1E8E8B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847F3B-A8D4-C3C3-AA08-D7EF016B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F91BC-6C82-B366-521F-A6D93887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62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E68CEF-ECCA-E4CF-960C-A827303B9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8E9057-F29F-B07D-7486-3B0A6BDC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EA31C-0AB0-C4A5-88D7-76E6B6BA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4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43E1-EE33-C85C-335D-D0C53222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CF8-15D0-D991-2636-358E89622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D545F-14EC-E670-91DA-D27C5B209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4593B-5A10-6FE0-804F-8806C96B9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F9B53-457D-BCA9-79F1-CFACE9387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99203-2DA0-6665-A713-BA3164569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88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C35A1-3F15-7C8E-9973-0C4BFEBFC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EEBA8B-6A12-443D-582F-1C1DE11E9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4B03E-829C-A89B-DEF4-956D8949E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59819-931A-3CC2-36BC-19012E8C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D8038-DA20-46C1-BE2B-704446EFB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0368A-BF1F-BB78-FFD0-8EF33DE99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33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D3315-5CDF-21DE-4236-389DED53A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9DB7E-E672-75B4-204C-951794C43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775F3-35BB-57DF-908A-6B7F5901E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78F3B-8B2B-9B71-4835-D04B5F2FB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FAE83-5B61-233C-A8C6-628772802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10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9EDAAC-FF64-C3A4-BD3D-F33EB230C9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78314C-869E-7A74-EDFC-272ABE107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98511-5020-12CE-7697-CD0FDB5BD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A7DE9-6E61-7342-2FE2-20C37C51D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69229-5968-F9F3-744A-AB29925F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88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41F230-F08F-88FB-9ED2-925D06F07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E0377-A45D-2469-26F5-C44A0755C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CB6F1-1915-2899-DE90-60A24026E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BA894-39C2-64DC-A6F4-085688495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D84B7-9EED-586C-0BB2-E5811B61A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4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4C1DC6-3E41-96A6-A7D6-EB4E0DAA8EA7}"/>
              </a:ext>
            </a:extLst>
          </p:cNvPr>
          <p:cNvSpPr txBox="1"/>
          <p:nvPr/>
        </p:nvSpPr>
        <p:spPr>
          <a:xfrm>
            <a:off x="690513" y="2589582"/>
            <a:ext cx="10810973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900" b="1" dirty="0">
                <a:ln w="57150">
                  <a:solidFill>
                    <a:schemeClr val="bg1"/>
                  </a:solidFill>
                  <a:prstDash val="solid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ENGLISH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47560C-F03A-851C-E4C0-4199A9A8B2B6}"/>
              </a:ext>
            </a:extLst>
          </p:cNvPr>
          <p:cNvSpPr txBox="1"/>
          <p:nvPr/>
        </p:nvSpPr>
        <p:spPr>
          <a:xfrm>
            <a:off x="690513" y="1488567"/>
            <a:ext cx="6058069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SPOKEN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F995EFD6-756A-C993-DF1B-95B7BEA9A049}"/>
              </a:ext>
            </a:extLst>
          </p:cNvPr>
          <p:cNvSpPr/>
          <p:nvPr/>
        </p:nvSpPr>
        <p:spPr>
          <a:xfrm>
            <a:off x="10058400" y="0"/>
            <a:ext cx="1585913" cy="2000249"/>
          </a:xfrm>
          <a:prstGeom prst="foldedCorner">
            <a:avLst>
              <a:gd name="adj" fmla="val 30717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Aptos Narrow" panose="020B00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03117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7560C-F03A-851C-E4C0-4199A9A8B2B6}"/>
              </a:ext>
            </a:extLst>
          </p:cNvPr>
          <p:cNvSpPr txBox="1"/>
          <p:nvPr/>
        </p:nvSpPr>
        <p:spPr>
          <a:xfrm>
            <a:off x="2529959" y="1200164"/>
            <a:ext cx="7132081" cy="3631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SENTENCE</a:t>
            </a:r>
          </a:p>
          <a:p>
            <a:pPr algn="ctr"/>
            <a:r>
              <a:rPr lang="en-US" sz="11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PATTERN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809A81-67C9-83C5-117D-66EEFCAECCBE}"/>
              </a:ext>
            </a:extLst>
          </p:cNvPr>
          <p:cNvSpPr txBox="1"/>
          <p:nvPr/>
        </p:nvSpPr>
        <p:spPr>
          <a:xfrm>
            <a:off x="2008695" y="4697835"/>
            <a:ext cx="8174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haroni" panose="02010803020104030203" pitchFamily="2" charset="-79"/>
              </a:rPr>
              <a:t>7 TYPES OF SENTENCE PATTERN</a:t>
            </a:r>
          </a:p>
        </p:txBody>
      </p:sp>
    </p:spTree>
    <p:extLst>
      <p:ext uri="{BB962C8B-B14F-4D97-AF65-F5344CB8AC3E}">
        <p14:creationId xmlns:p14="http://schemas.microsoft.com/office/powerpoint/2010/main" val="2654294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FD9E653-87A5-643B-066D-89D4B98EAA94}"/>
              </a:ext>
            </a:extLst>
          </p:cNvPr>
          <p:cNvSpPr txBox="1"/>
          <p:nvPr/>
        </p:nvSpPr>
        <p:spPr>
          <a:xfrm>
            <a:off x="1260764" y="1905506"/>
            <a:ext cx="955963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</a:rPr>
              <a:t>S</a:t>
            </a:r>
            <a:r>
              <a:rPr lang="en-US" sz="3200" dirty="0">
                <a:solidFill>
                  <a:schemeClr val="bg1"/>
                </a:solidFill>
              </a:rPr>
              <a:t> – 	Subject or Noun</a:t>
            </a:r>
          </a:p>
          <a:p>
            <a:r>
              <a:rPr lang="en-US" sz="3200" dirty="0">
                <a:solidFill>
                  <a:schemeClr val="accent2"/>
                </a:solidFill>
              </a:rPr>
              <a:t>V</a:t>
            </a:r>
            <a:r>
              <a:rPr lang="en-US" sz="3200" dirty="0">
                <a:solidFill>
                  <a:schemeClr val="bg1"/>
                </a:solidFill>
              </a:rPr>
              <a:t> – 	Verb</a:t>
            </a:r>
          </a:p>
          <a:p>
            <a:r>
              <a:rPr lang="en-US" sz="3200" dirty="0">
                <a:solidFill>
                  <a:schemeClr val="accent2"/>
                </a:solidFill>
              </a:rPr>
              <a:t>O</a:t>
            </a:r>
            <a:r>
              <a:rPr lang="en-US" sz="3200" dirty="0">
                <a:solidFill>
                  <a:schemeClr val="bg1"/>
                </a:solidFill>
              </a:rPr>
              <a:t> – 	Object ( second noun and pronoun)</a:t>
            </a:r>
          </a:p>
          <a:p>
            <a:r>
              <a:rPr lang="en-US" sz="3200" dirty="0">
                <a:solidFill>
                  <a:schemeClr val="accent2"/>
                </a:solidFill>
              </a:rPr>
              <a:t>C</a:t>
            </a:r>
            <a:r>
              <a:rPr lang="en-US" sz="3200" dirty="0">
                <a:solidFill>
                  <a:schemeClr val="bg1"/>
                </a:solidFill>
              </a:rPr>
              <a:t> – 	Complement (provides additional information 	for the noun or object, [profession])</a:t>
            </a:r>
          </a:p>
          <a:p>
            <a:r>
              <a:rPr lang="en-US" sz="3200" dirty="0">
                <a:solidFill>
                  <a:schemeClr val="accent2"/>
                </a:solidFill>
              </a:rPr>
              <a:t>A</a:t>
            </a:r>
            <a:r>
              <a:rPr lang="en-US" sz="3200" dirty="0">
                <a:solidFill>
                  <a:schemeClr val="bg1"/>
                </a:solidFill>
              </a:rPr>
              <a:t> – 	Adverbial (manner, place, time, frequence, degree)</a:t>
            </a:r>
          </a:p>
        </p:txBody>
      </p:sp>
    </p:spTree>
    <p:extLst>
      <p:ext uri="{BB962C8B-B14F-4D97-AF65-F5344CB8AC3E}">
        <p14:creationId xmlns:p14="http://schemas.microsoft.com/office/powerpoint/2010/main" val="2504860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291080-4327-E0DE-027E-1636ADF7A0EA}"/>
              </a:ext>
            </a:extLst>
          </p:cNvPr>
          <p:cNvSpPr txBox="1"/>
          <p:nvPr/>
        </p:nvSpPr>
        <p:spPr>
          <a:xfrm>
            <a:off x="657226" y="2057400"/>
            <a:ext cx="10049611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C000"/>
                </a:solidFill>
              </a:rPr>
              <a:t>SV</a:t>
            </a:r>
            <a:r>
              <a:rPr lang="en-US" sz="4400" dirty="0">
                <a:solidFill>
                  <a:schemeClr val="bg1"/>
                </a:solidFill>
              </a:rPr>
              <a:t> – Subject + Verb</a:t>
            </a:r>
          </a:p>
          <a:p>
            <a:r>
              <a:rPr lang="en-US" sz="4400" dirty="0">
                <a:solidFill>
                  <a:srgbClr val="FFC000"/>
                </a:solidFill>
              </a:rPr>
              <a:t>SVO</a:t>
            </a:r>
            <a:r>
              <a:rPr lang="en-US" sz="4400" dirty="0">
                <a:solidFill>
                  <a:schemeClr val="bg1"/>
                </a:solidFill>
              </a:rPr>
              <a:t> – Subject + Verb + Object</a:t>
            </a:r>
          </a:p>
          <a:p>
            <a:r>
              <a:rPr lang="en-US" sz="4400" dirty="0">
                <a:solidFill>
                  <a:srgbClr val="FFC000"/>
                </a:solidFill>
              </a:rPr>
              <a:t>SVC</a:t>
            </a:r>
            <a:r>
              <a:rPr lang="en-US" sz="4400" dirty="0">
                <a:solidFill>
                  <a:schemeClr val="bg1"/>
                </a:solidFill>
              </a:rPr>
              <a:t> – Subject + Verb + Complement</a:t>
            </a:r>
          </a:p>
          <a:p>
            <a:r>
              <a:rPr lang="en-US" sz="4400" dirty="0">
                <a:solidFill>
                  <a:srgbClr val="FFC000"/>
                </a:solidFill>
              </a:rPr>
              <a:t>SVOO</a:t>
            </a:r>
            <a:r>
              <a:rPr lang="en-US" sz="4400" dirty="0">
                <a:solidFill>
                  <a:schemeClr val="bg1"/>
                </a:solidFill>
              </a:rPr>
              <a:t> – Subject + Verb + IO + DO</a:t>
            </a:r>
          </a:p>
          <a:p>
            <a:r>
              <a:rPr lang="en-US" sz="4400" dirty="0">
                <a:solidFill>
                  <a:srgbClr val="FFC000"/>
                </a:solidFill>
              </a:rPr>
              <a:t>SVA</a:t>
            </a:r>
            <a:r>
              <a:rPr lang="en-US" sz="4400" dirty="0">
                <a:solidFill>
                  <a:schemeClr val="bg1"/>
                </a:solidFill>
              </a:rPr>
              <a:t> – Subject + Verb + Adjunct</a:t>
            </a:r>
          </a:p>
          <a:p>
            <a:r>
              <a:rPr lang="en-US" sz="4400" dirty="0">
                <a:solidFill>
                  <a:srgbClr val="FFC000"/>
                </a:solidFill>
              </a:rPr>
              <a:t>SVOA</a:t>
            </a:r>
            <a:r>
              <a:rPr lang="en-US" sz="4400" dirty="0">
                <a:solidFill>
                  <a:schemeClr val="bg1"/>
                </a:solidFill>
              </a:rPr>
              <a:t> – Subject + Verb + Object + Adverbial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7E6021-DD5D-1C76-6364-EF66D27B749E}"/>
              </a:ext>
            </a:extLst>
          </p:cNvPr>
          <p:cNvSpPr txBox="1"/>
          <p:nvPr/>
        </p:nvSpPr>
        <p:spPr>
          <a:xfrm>
            <a:off x="657226" y="771539"/>
            <a:ext cx="80009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SENTENCE PATTERN</a:t>
            </a:r>
          </a:p>
        </p:txBody>
      </p:sp>
    </p:spTree>
    <p:extLst>
      <p:ext uri="{BB962C8B-B14F-4D97-AF65-F5344CB8AC3E}">
        <p14:creationId xmlns:p14="http://schemas.microsoft.com/office/powerpoint/2010/main" val="919881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291080-4327-E0DE-027E-1636ADF7A0EA}"/>
              </a:ext>
            </a:extLst>
          </p:cNvPr>
          <p:cNvSpPr txBox="1"/>
          <p:nvPr/>
        </p:nvSpPr>
        <p:spPr>
          <a:xfrm>
            <a:off x="657226" y="2057400"/>
            <a:ext cx="45978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C000"/>
                </a:solidFill>
              </a:rPr>
              <a:t>SV</a:t>
            </a:r>
            <a:r>
              <a:rPr lang="en-US" sz="4400" dirty="0">
                <a:solidFill>
                  <a:schemeClr val="bg1"/>
                </a:solidFill>
              </a:rPr>
              <a:t> – Subject + Verb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7E6021-DD5D-1C76-6364-EF66D27B749E}"/>
              </a:ext>
            </a:extLst>
          </p:cNvPr>
          <p:cNvSpPr txBox="1"/>
          <p:nvPr/>
        </p:nvSpPr>
        <p:spPr>
          <a:xfrm>
            <a:off x="657226" y="771539"/>
            <a:ext cx="80009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SENTENCE PATTERN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25DA7B-7206-D279-7384-D64D0DA36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174078"/>
              </p:ext>
            </p:extLst>
          </p:nvPr>
        </p:nvGraphicFramePr>
        <p:xfrm>
          <a:off x="3900160" y="3495106"/>
          <a:ext cx="4391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5840">
                  <a:extLst>
                    <a:ext uri="{9D8B030D-6E8A-4147-A177-3AD203B41FA5}">
                      <a16:colId xmlns:a16="http://schemas.microsoft.com/office/drawing/2014/main" val="980870320"/>
                    </a:ext>
                  </a:extLst>
                </a:gridCol>
                <a:gridCol w="2195840">
                  <a:extLst>
                    <a:ext uri="{9D8B030D-6E8A-4147-A177-3AD203B41FA5}">
                      <a16:colId xmlns:a16="http://schemas.microsoft.com/office/drawing/2014/main" val="4126834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Subject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Verb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2545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She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sings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714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They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laugh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0715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He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sleeps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7059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9855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291080-4327-E0DE-027E-1636ADF7A0EA}"/>
              </a:ext>
            </a:extLst>
          </p:cNvPr>
          <p:cNvSpPr txBox="1"/>
          <p:nvPr/>
        </p:nvSpPr>
        <p:spPr>
          <a:xfrm>
            <a:off x="2588918" y="2057400"/>
            <a:ext cx="701416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C000"/>
                </a:solidFill>
              </a:rPr>
              <a:t>SVO</a:t>
            </a:r>
            <a:r>
              <a:rPr lang="en-US" sz="4400" dirty="0">
                <a:solidFill>
                  <a:schemeClr val="bg1"/>
                </a:solidFill>
              </a:rPr>
              <a:t> – Subject + Verb + Object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7E6021-DD5D-1C76-6364-EF66D27B749E}"/>
              </a:ext>
            </a:extLst>
          </p:cNvPr>
          <p:cNvSpPr txBox="1"/>
          <p:nvPr/>
        </p:nvSpPr>
        <p:spPr>
          <a:xfrm>
            <a:off x="657226" y="771539"/>
            <a:ext cx="80009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SENTENCE PATTERN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25DA7B-7206-D279-7384-D64D0DA36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014394"/>
              </p:ext>
            </p:extLst>
          </p:nvPr>
        </p:nvGraphicFramePr>
        <p:xfrm>
          <a:off x="2701636" y="3429000"/>
          <a:ext cx="6901446" cy="232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482">
                  <a:extLst>
                    <a:ext uri="{9D8B030D-6E8A-4147-A177-3AD203B41FA5}">
                      <a16:colId xmlns:a16="http://schemas.microsoft.com/office/drawing/2014/main" val="980870320"/>
                    </a:ext>
                  </a:extLst>
                </a:gridCol>
                <a:gridCol w="2300482">
                  <a:extLst>
                    <a:ext uri="{9D8B030D-6E8A-4147-A177-3AD203B41FA5}">
                      <a16:colId xmlns:a16="http://schemas.microsoft.com/office/drawing/2014/main" val="4126834006"/>
                    </a:ext>
                  </a:extLst>
                </a:gridCol>
                <a:gridCol w="2300482">
                  <a:extLst>
                    <a:ext uri="{9D8B030D-6E8A-4147-A177-3AD203B41FA5}">
                      <a16:colId xmlns:a16="http://schemas.microsoft.com/office/drawing/2014/main" val="3885879923"/>
                    </a:ext>
                  </a:extLst>
                </a:gridCol>
              </a:tblGrid>
              <a:tr h="582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Subject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Verb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Object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2545800"/>
                  </a:ext>
                </a:extLst>
              </a:tr>
              <a:tr h="582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She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plays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the piano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714645"/>
                  </a:ext>
                </a:extLst>
              </a:tr>
              <a:tr h="582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They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eat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pizza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0715249"/>
                  </a:ext>
                </a:extLst>
              </a:tr>
              <a:tr h="582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He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reads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 book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7059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7371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291080-4327-E0DE-027E-1636ADF7A0EA}"/>
              </a:ext>
            </a:extLst>
          </p:cNvPr>
          <p:cNvSpPr txBox="1"/>
          <p:nvPr/>
        </p:nvSpPr>
        <p:spPr>
          <a:xfrm>
            <a:off x="1971538" y="2057400"/>
            <a:ext cx="824892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C000"/>
                </a:solidFill>
              </a:rPr>
              <a:t>SVC</a:t>
            </a:r>
            <a:r>
              <a:rPr lang="en-US" sz="4400" dirty="0">
                <a:solidFill>
                  <a:schemeClr val="bg1"/>
                </a:solidFill>
              </a:rPr>
              <a:t> – Subject + Verb + Compliment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7E6021-DD5D-1C76-6364-EF66D27B749E}"/>
              </a:ext>
            </a:extLst>
          </p:cNvPr>
          <p:cNvSpPr txBox="1"/>
          <p:nvPr/>
        </p:nvSpPr>
        <p:spPr>
          <a:xfrm>
            <a:off x="657226" y="771539"/>
            <a:ext cx="80009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SENTENCE PATTERN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25DA7B-7206-D279-7384-D64D0DA36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435126"/>
              </p:ext>
            </p:extLst>
          </p:nvPr>
        </p:nvGraphicFramePr>
        <p:xfrm>
          <a:off x="2701636" y="3429000"/>
          <a:ext cx="6901449" cy="232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483">
                  <a:extLst>
                    <a:ext uri="{9D8B030D-6E8A-4147-A177-3AD203B41FA5}">
                      <a16:colId xmlns:a16="http://schemas.microsoft.com/office/drawing/2014/main" val="980870320"/>
                    </a:ext>
                  </a:extLst>
                </a:gridCol>
                <a:gridCol w="2300483">
                  <a:extLst>
                    <a:ext uri="{9D8B030D-6E8A-4147-A177-3AD203B41FA5}">
                      <a16:colId xmlns:a16="http://schemas.microsoft.com/office/drawing/2014/main" val="4126834006"/>
                    </a:ext>
                  </a:extLst>
                </a:gridCol>
                <a:gridCol w="2300483">
                  <a:extLst>
                    <a:ext uri="{9D8B030D-6E8A-4147-A177-3AD203B41FA5}">
                      <a16:colId xmlns:a16="http://schemas.microsoft.com/office/drawing/2014/main" val="3885879923"/>
                    </a:ext>
                  </a:extLst>
                </a:gridCol>
              </a:tblGrid>
              <a:tr h="582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Subject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Verb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Complement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2545800"/>
                  </a:ext>
                </a:extLst>
              </a:tr>
              <a:tr h="582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She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is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 doctor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714645"/>
                  </a:ext>
                </a:extLst>
              </a:tr>
              <a:tr h="582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He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seems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happy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0715249"/>
                  </a:ext>
                </a:extLst>
              </a:tr>
              <a:tr h="582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They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appear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tired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7059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741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291080-4327-E0DE-027E-1636ADF7A0EA}"/>
              </a:ext>
            </a:extLst>
          </p:cNvPr>
          <p:cNvSpPr txBox="1"/>
          <p:nvPr/>
        </p:nvSpPr>
        <p:spPr>
          <a:xfrm>
            <a:off x="2588918" y="2057400"/>
            <a:ext cx="701416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C000"/>
                </a:solidFill>
              </a:rPr>
              <a:t>SVO</a:t>
            </a:r>
            <a:r>
              <a:rPr lang="en-US" sz="4400" dirty="0">
                <a:solidFill>
                  <a:schemeClr val="bg1"/>
                </a:solidFill>
              </a:rPr>
              <a:t> – Subject + Verb + Object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7E6021-DD5D-1C76-6364-EF66D27B749E}"/>
              </a:ext>
            </a:extLst>
          </p:cNvPr>
          <p:cNvSpPr txBox="1"/>
          <p:nvPr/>
        </p:nvSpPr>
        <p:spPr>
          <a:xfrm>
            <a:off x="657226" y="771539"/>
            <a:ext cx="80009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SENTENCE PATTERN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25DA7B-7206-D279-7384-D64D0DA36081}"/>
              </a:ext>
            </a:extLst>
          </p:cNvPr>
          <p:cNvGraphicFramePr>
            <a:graphicFrameLocks noGrp="1"/>
          </p:cNvGraphicFramePr>
          <p:nvPr/>
        </p:nvGraphicFramePr>
        <p:xfrm>
          <a:off x="2701636" y="3429000"/>
          <a:ext cx="6901449" cy="232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483">
                  <a:extLst>
                    <a:ext uri="{9D8B030D-6E8A-4147-A177-3AD203B41FA5}">
                      <a16:colId xmlns:a16="http://schemas.microsoft.com/office/drawing/2014/main" val="980870320"/>
                    </a:ext>
                  </a:extLst>
                </a:gridCol>
                <a:gridCol w="2300483">
                  <a:extLst>
                    <a:ext uri="{9D8B030D-6E8A-4147-A177-3AD203B41FA5}">
                      <a16:colId xmlns:a16="http://schemas.microsoft.com/office/drawing/2014/main" val="4126834006"/>
                    </a:ext>
                  </a:extLst>
                </a:gridCol>
                <a:gridCol w="2300483">
                  <a:extLst>
                    <a:ext uri="{9D8B030D-6E8A-4147-A177-3AD203B41FA5}">
                      <a16:colId xmlns:a16="http://schemas.microsoft.com/office/drawing/2014/main" val="3885879923"/>
                    </a:ext>
                  </a:extLst>
                </a:gridCol>
              </a:tblGrid>
              <a:tr h="582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Subject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Verb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Complement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2545800"/>
                  </a:ext>
                </a:extLst>
              </a:tr>
              <a:tr h="582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She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is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 doctor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714645"/>
                  </a:ext>
                </a:extLst>
              </a:tr>
              <a:tr h="582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He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seems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happy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0715249"/>
                  </a:ext>
                </a:extLst>
              </a:tr>
              <a:tr h="582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They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appear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tired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7059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6901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291080-4327-E0DE-027E-1636ADF7A0EA}"/>
              </a:ext>
            </a:extLst>
          </p:cNvPr>
          <p:cNvSpPr txBox="1"/>
          <p:nvPr/>
        </p:nvSpPr>
        <p:spPr>
          <a:xfrm>
            <a:off x="685577" y="2057400"/>
            <a:ext cx="1082084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C000"/>
                </a:solidFill>
              </a:rPr>
              <a:t>SVOC</a:t>
            </a:r>
            <a:r>
              <a:rPr lang="en-US" sz="4400" dirty="0">
                <a:solidFill>
                  <a:schemeClr val="bg1"/>
                </a:solidFill>
              </a:rPr>
              <a:t> – Subject + Verb + Object + Complement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7E6021-DD5D-1C76-6364-EF66D27B749E}"/>
              </a:ext>
            </a:extLst>
          </p:cNvPr>
          <p:cNvSpPr txBox="1"/>
          <p:nvPr/>
        </p:nvSpPr>
        <p:spPr>
          <a:xfrm>
            <a:off x="657226" y="771539"/>
            <a:ext cx="80009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SENTENCE PATTERN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25DA7B-7206-D279-7384-D64D0DA36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408857"/>
              </p:ext>
            </p:extLst>
          </p:nvPr>
        </p:nvGraphicFramePr>
        <p:xfrm>
          <a:off x="2556164" y="3429000"/>
          <a:ext cx="7079673" cy="232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62">
                  <a:extLst>
                    <a:ext uri="{9D8B030D-6E8A-4147-A177-3AD203B41FA5}">
                      <a16:colId xmlns:a16="http://schemas.microsoft.com/office/drawing/2014/main" val="980870320"/>
                    </a:ext>
                  </a:extLst>
                </a:gridCol>
                <a:gridCol w="1725362">
                  <a:extLst>
                    <a:ext uri="{9D8B030D-6E8A-4147-A177-3AD203B41FA5}">
                      <a16:colId xmlns:a16="http://schemas.microsoft.com/office/drawing/2014/main" val="4126834006"/>
                    </a:ext>
                  </a:extLst>
                </a:gridCol>
                <a:gridCol w="1725362">
                  <a:extLst>
                    <a:ext uri="{9D8B030D-6E8A-4147-A177-3AD203B41FA5}">
                      <a16:colId xmlns:a16="http://schemas.microsoft.com/office/drawing/2014/main" val="2821971097"/>
                    </a:ext>
                  </a:extLst>
                </a:gridCol>
                <a:gridCol w="1903587">
                  <a:extLst>
                    <a:ext uri="{9D8B030D-6E8A-4147-A177-3AD203B41FA5}">
                      <a16:colId xmlns:a16="http://schemas.microsoft.com/office/drawing/2014/main" val="3885879923"/>
                    </a:ext>
                  </a:extLst>
                </a:gridCol>
              </a:tblGrid>
              <a:tr h="582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Subject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Verb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Object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Complement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2545800"/>
                  </a:ext>
                </a:extLst>
              </a:tr>
              <a:tr h="582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She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painted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the wall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blue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714645"/>
                  </a:ext>
                </a:extLst>
              </a:tr>
              <a:tr h="582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He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considers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her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 friend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0715249"/>
                  </a:ext>
                </a:extLst>
              </a:tr>
              <a:tr h="582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They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elected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him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president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7059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5716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291080-4327-E0DE-027E-1636ADF7A0EA}"/>
              </a:ext>
            </a:extLst>
          </p:cNvPr>
          <p:cNvSpPr txBox="1"/>
          <p:nvPr/>
        </p:nvSpPr>
        <p:spPr>
          <a:xfrm>
            <a:off x="2289413" y="2057400"/>
            <a:ext cx="76131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C000"/>
                </a:solidFill>
              </a:rPr>
              <a:t>SVA</a:t>
            </a:r>
            <a:r>
              <a:rPr lang="en-US" sz="4400" dirty="0">
                <a:solidFill>
                  <a:schemeClr val="bg1"/>
                </a:solidFill>
              </a:rPr>
              <a:t> – Subject + Verb + Adverbial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7E6021-DD5D-1C76-6364-EF66D27B749E}"/>
              </a:ext>
            </a:extLst>
          </p:cNvPr>
          <p:cNvSpPr txBox="1"/>
          <p:nvPr/>
        </p:nvSpPr>
        <p:spPr>
          <a:xfrm>
            <a:off x="657226" y="771539"/>
            <a:ext cx="80009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SENTENCE PATTERN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25DA7B-7206-D279-7384-D64D0DA36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918982"/>
              </p:ext>
            </p:extLst>
          </p:nvPr>
        </p:nvGraphicFramePr>
        <p:xfrm>
          <a:off x="3655869" y="3517411"/>
          <a:ext cx="4880263" cy="232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241">
                  <a:extLst>
                    <a:ext uri="{9D8B030D-6E8A-4147-A177-3AD203B41FA5}">
                      <a16:colId xmlns:a16="http://schemas.microsoft.com/office/drawing/2014/main" val="980870320"/>
                    </a:ext>
                  </a:extLst>
                </a:gridCol>
                <a:gridCol w="1779994">
                  <a:extLst>
                    <a:ext uri="{9D8B030D-6E8A-4147-A177-3AD203B41FA5}">
                      <a16:colId xmlns:a16="http://schemas.microsoft.com/office/drawing/2014/main" val="4126834006"/>
                    </a:ext>
                  </a:extLst>
                </a:gridCol>
                <a:gridCol w="1950028">
                  <a:extLst>
                    <a:ext uri="{9D8B030D-6E8A-4147-A177-3AD203B41FA5}">
                      <a16:colId xmlns:a16="http://schemas.microsoft.com/office/drawing/2014/main" val="1229587029"/>
                    </a:ext>
                  </a:extLst>
                </a:gridCol>
              </a:tblGrid>
              <a:tr h="582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Subject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Verb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Adverbial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2545800"/>
                  </a:ext>
                </a:extLst>
              </a:tr>
              <a:tr h="582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She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sings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beautifully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714645"/>
                  </a:ext>
                </a:extLst>
              </a:tr>
              <a:tr h="582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run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quickly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0715249"/>
                  </a:ext>
                </a:extLst>
              </a:tr>
              <a:tr h="582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They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speak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fluently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7059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8356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291080-4327-E0DE-027E-1636ADF7A0EA}"/>
              </a:ext>
            </a:extLst>
          </p:cNvPr>
          <p:cNvSpPr txBox="1"/>
          <p:nvPr/>
        </p:nvSpPr>
        <p:spPr>
          <a:xfrm>
            <a:off x="1071195" y="2057400"/>
            <a:ext cx="1004961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C000"/>
                </a:solidFill>
              </a:rPr>
              <a:t>SVOA</a:t>
            </a:r>
            <a:r>
              <a:rPr lang="en-US" sz="4400" dirty="0">
                <a:solidFill>
                  <a:schemeClr val="bg1"/>
                </a:solidFill>
              </a:rPr>
              <a:t> – Subject + Verb + Object + Adverbial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7E6021-DD5D-1C76-6364-EF66D27B749E}"/>
              </a:ext>
            </a:extLst>
          </p:cNvPr>
          <p:cNvSpPr txBox="1"/>
          <p:nvPr/>
        </p:nvSpPr>
        <p:spPr>
          <a:xfrm>
            <a:off x="657226" y="771539"/>
            <a:ext cx="80009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SENTENCE PATTERN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25DA7B-7206-D279-7384-D64D0DA36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529454"/>
              </p:ext>
            </p:extLst>
          </p:nvPr>
        </p:nvGraphicFramePr>
        <p:xfrm>
          <a:off x="3228109" y="3517411"/>
          <a:ext cx="5735782" cy="232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146">
                  <a:extLst>
                    <a:ext uri="{9D8B030D-6E8A-4147-A177-3AD203B41FA5}">
                      <a16:colId xmlns:a16="http://schemas.microsoft.com/office/drawing/2014/main" val="980870320"/>
                    </a:ext>
                  </a:extLst>
                </a:gridCol>
                <a:gridCol w="1106290">
                  <a:extLst>
                    <a:ext uri="{9D8B030D-6E8A-4147-A177-3AD203B41FA5}">
                      <a16:colId xmlns:a16="http://schemas.microsoft.com/office/drawing/2014/main" val="4126834006"/>
                    </a:ext>
                  </a:extLst>
                </a:gridCol>
                <a:gridCol w="1304280">
                  <a:extLst>
                    <a:ext uri="{9D8B030D-6E8A-4147-A177-3AD203B41FA5}">
                      <a16:colId xmlns:a16="http://schemas.microsoft.com/office/drawing/2014/main" val="2327996856"/>
                    </a:ext>
                  </a:extLst>
                </a:gridCol>
                <a:gridCol w="1815066">
                  <a:extLst>
                    <a:ext uri="{9D8B030D-6E8A-4147-A177-3AD203B41FA5}">
                      <a16:colId xmlns:a16="http://schemas.microsoft.com/office/drawing/2014/main" val="1229587029"/>
                    </a:ext>
                  </a:extLst>
                </a:gridCol>
              </a:tblGrid>
              <a:tr h="582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Subject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Verb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Object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Adverbial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2545800"/>
                  </a:ext>
                </a:extLst>
              </a:tr>
              <a:tr h="582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She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reads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 book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in the library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714645"/>
                  </a:ext>
                </a:extLst>
              </a:tr>
              <a:tr h="582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They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play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soccer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on weekends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0715249"/>
                  </a:ext>
                </a:extLst>
              </a:tr>
              <a:tr h="582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He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eats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dinner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after work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7059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6239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291080-4327-E0DE-027E-1636ADF7A0EA}"/>
              </a:ext>
            </a:extLst>
          </p:cNvPr>
          <p:cNvSpPr txBox="1"/>
          <p:nvPr/>
        </p:nvSpPr>
        <p:spPr>
          <a:xfrm>
            <a:off x="840170" y="2057400"/>
            <a:ext cx="10511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C000"/>
                </a:solidFill>
              </a:rPr>
              <a:t>SVOO</a:t>
            </a:r>
            <a:r>
              <a:rPr lang="en-US" sz="3600" dirty="0">
                <a:solidFill>
                  <a:schemeClr val="bg1"/>
                </a:solidFill>
              </a:rPr>
              <a:t> – Subject + Verb + Indirect Object + Direct Object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7E6021-DD5D-1C76-6364-EF66D27B749E}"/>
              </a:ext>
            </a:extLst>
          </p:cNvPr>
          <p:cNvSpPr txBox="1"/>
          <p:nvPr/>
        </p:nvSpPr>
        <p:spPr>
          <a:xfrm>
            <a:off x="657226" y="771539"/>
            <a:ext cx="80009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SENTENCE PATTERN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25DA7B-7206-D279-7384-D64D0DA36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820652"/>
              </p:ext>
            </p:extLst>
          </p:nvPr>
        </p:nvGraphicFramePr>
        <p:xfrm>
          <a:off x="2729345" y="3429000"/>
          <a:ext cx="6733310" cy="2910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146">
                  <a:extLst>
                    <a:ext uri="{9D8B030D-6E8A-4147-A177-3AD203B41FA5}">
                      <a16:colId xmlns:a16="http://schemas.microsoft.com/office/drawing/2014/main" val="980870320"/>
                    </a:ext>
                  </a:extLst>
                </a:gridCol>
                <a:gridCol w="1106290">
                  <a:extLst>
                    <a:ext uri="{9D8B030D-6E8A-4147-A177-3AD203B41FA5}">
                      <a16:colId xmlns:a16="http://schemas.microsoft.com/office/drawing/2014/main" val="4126834006"/>
                    </a:ext>
                  </a:extLst>
                </a:gridCol>
                <a:gridCol w="2523600">
                  <a:extLst>
                    <a:ext uri="{9D8B030D-6E8A-4147-A177-3AD203B41FA5}">
                      <a16:colId xmlns:a16="http://schemas.microsoft.com/office/drawing/2014/main" val="2327996856"/>
                    </a:ext>
                  </a:extLst>
                </a:gridCol>
                <a:gridCol w="1593274">
                  <a:extLst>
                    <a:ext uri="{9D8B030D-6E8A-4147-A177-3AD203B41FA5}">
                      <a16:colId xmlns:a16="http://schemas.microsoft.com/office/drawing/2014/main" val="1229587029"/>
                    </a:ext>
                  </a:extLst>
                </a:gridCol>
              </a:tblGrid>
              <a:tr h="582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Subject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Verb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Indirect Obj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Direct Obj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2545800"/>
                  </a:ext>
                </a:extLst>
              </a:tr>
              <a:tr h="582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She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gave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him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 gift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714645"/>
                  </a:ext>
                </a:extLst>
              </a:tr>
              <a:tr h="582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They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bought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their mother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flowers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0715249"/>
                  </a:ext>
                </a:extLst>
              </a:tr>
              <a:tr h="582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He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sent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an email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7059652"/>
                  </a:ext>
                </a:extLst>
              </a:tr>
              <a:tr h="5820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She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made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her students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cakes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909788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842F5B1-5DA5-634E-6205-F4F57B7E6610}"/>
              </a:ext>
            </a:extLst>
          </p:cNvPr>
          <p:cNvSpPr txBox="1"/>
          <p:nvPr/>
        </p:nvSpPr>
        <p:spPr>
          <a:xfrm>
            <a:off x="5883225" y="2493582"/>
            <a:ext cx="17930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C000"/>
                </a:solidFill>
              </a:rPr>
              <a:t>pronoun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EF8FF1-FB01-4226-FB73-A2DA0D364B79}"/>
              </a:ext>
            </a:extLst>
          </p:cNvPr>
          <p:cNvSpPr txBox="1"/>
          <p:nvPr/>
        </p:nvSpPr>
        <p:spPr>
          <a:xfrm>
            <a:off x="8972789" y="2493582"/>
            <a:ext cx="13596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C000"/>
                </a:solidFill>
              </a:rPr>
              <a:t>object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258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314</Words>
  <Application>Microsoft Office PowerPoint</Application>
  <PresentationFormat>Widescreen</PresentationFormat>
  <Paragraphs>144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Aharoni</vt:lpstr>
      <vt:lpstr>Aptos Narrow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IPA BFSBC</dc:creator>
  <cp:lastModifiedBy>IPA BFSBC</cp:lastModifiedBy>
  <cp:revision>21</cp:revision>
  <dcterms:created xsi:type="dcterms:W3CDTF">2024-01-28T15:20:08Z</dcterms:created>
  <dcterms:modified xsi:type="dcterms:W3CDTF">2024-04-29T05:48:11Z</dcterms:modified>
</cp:coreProperties>
</file>