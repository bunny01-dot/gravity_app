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9DF29-994F-4016-A72F-FA035FF84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C36878-561A-07F1-5BB5-3A8456C6B3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FEED8-A0D0-F62F-B03B-047616EEC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EDB3F-549E-EE9E-C348-062FB16B1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A14A6-AD7C-46C4-B2BF-870AE88E5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858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377AD-E51D-4961-2357-4A3B492F5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4B6D4-D220-7E00-2043-97BF4CE72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4BFE5-51B0-8F76-9EA1-AB9627A72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A4987-FBD0-078F-42C7-92EA735AF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BC86E-FBB6-9711-A5D1-3540F44AF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393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4BC26-D83A-7B77-9027-71BF3942A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3A666-9FDB-297A-5F20-5769C6D37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8E80C-732A-2A63-C2FC-42E575402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9D767-C239-35F9-EC13-B8A226C76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91574-FC30-138A-ED2A-FB692F5D1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370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35034-AA35-99B9-FC59-34ADCEE4F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D7426-886E-3EC9-AABC-8EEE1D1CB9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3D36E6-D303-5EE5-25B8-C0144320B3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A6557E-618B-A959-B873-09FF14916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B0AECC-F36F-1F1A-3977-CC87E6280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216510-4F28-CA06-D101-BAE71F2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643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2201-B5AE-163B-F61F-5C0F44874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96307-3E99-9FC1-32FB-ABA0DA62C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176FF9-A7B1-B65B-3D08-BE1B58753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6BDF89-81B9-49DE-9A84-D53D27D087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AB6D9A-BE20-6289-1768-22CD7CB5F2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5200BB-3BA0-56F0-0C1C-40E34F140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F459F0-9FE4-0EA4-9E11-896B914EA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143783-3387-666B-BBFE-0AB2502A1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783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3C739-A682-0DF3-0417-776522A45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6E69B4-B217-F44A-AEB4-A7A1E8E8B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847F3B-A8D4-C3C3-AA08-D7EF016BC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1F91BC-6C82-B366-521F-A6D938870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562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E68CEF-ECCA-E4CF-960C-A827303B9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8E9057-F29F-B07D-7486-3B0A6BDC5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EA31C-0AB0-C4A5-88D7-76E6B6BAA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545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543E1-EE33-C85C-335D-D0C532223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99CF8-15D0-D991-2636-358E89622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BD545F-14EC-E670-91DA-D27C5B209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4593B-5A10-6FE0-804F-8806C96B9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DF9B53-457D-BCA9-79F1-CFACE9387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99203-2DA0-6665-A713-BA3164569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588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C35A1-3F15-7C8E-9973-0C4BFEBFC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EEBA8B-6A12-443D-582F-1C1DE11E91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04B03E-829C-A89B-DEF4-956D8949E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59819-931A-3CC2-36BC-19012E8C1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FD8038-DA20-46C1-BE2B-704446EFB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00368A-BF1F-BB78-FFD0-8EF33DE99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933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D3315-5CDF-21DE-4236-389DED53A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D9DB7E-E672-75B4-204C-951794C434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775F3-35BB-57DF-908A-6B7F5901E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78F3B-8B2B-9B71-4835-D04B5F2FB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FAE83-5B61-233C-A8C6-628772802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910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9EDAAC-FF64-C3A4-BD3D-F33EB230C9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78314C-869E-7A74-EDFC-272ABE1073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98511-5020-12CE-7697-CD0FDB5BD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A7DE9-6E61-7342-2FE2-20C37C51D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69229-5968-F9F3-744A-AB29925F9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88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41F230-F08F-88FB-9ED2-925D06F07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E0377-A45D-2469-26F5-C44A0755C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CB6F1-1915-2899-DE90-60A24026E9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BA894-39C2-64DC-A6F4-085688495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D84B7-9EED-586C-0BB2-E5811B61A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46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4C1DC6-3E41-96A6-A7D6-EB4E0DAA8EA7}"/>
              </a:ext>
            </a:extLst>
          </p:cNvPr>
          <p:cNvSpPr txBox="1"/>
          <p:nvPr/>
        </p:nvSpPr>
        <p:spPr>
          <a:xfrm>
            <a:off x="690513" y="2589582"/>
            <a:ext cx="10810973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900" b="1" dirty="0">
                <a:ln w="57150">
                  <a:solidFill>
                    <a:schemeClr val="bg1"/>
                  </a:solidFill>
                  <a:prstDash val="solid"/>
                </a:ln>
                <a:noFill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ENGLISH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47560C-F03A-851C-E4C0-4199A9A8B2B6}"/>
              </a:ext>
            </a:extLst>
          </p:cNvPr>
          <p:cNvSpPr txBox="1"/>
          <p:nvPr/>
        </p:nvSpPr>
        <p:spPr>
          <a:xfrm>
            <a:off x="690513" y="1488567"/>
            <a:ext cx="6058069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SPOKEN</a:t>
            </a:r>
          </a:p>
        </p:txBody>
      </p:sp>
      <p:sp>
        <p:nvSpPr>
          <p:cNvPr id="4" name="Rectangle: Folded Corner 3">
            <a:extLst>
              <a:ext uri="{FF2B5EF4-FFF2-40B4-BE49-F238E27FC236}">
                <a16:creationId xmlns:a16="http://schemas.microsoft.com/office/drawing/2014/main" id="{F995EFD6-756A-C993-DF1B-95B7BEA9A049}"/>
              </a:ext>
            </a:extLst>
          </p:cNvPr>
          <p:cNvSpPr/>
          <p:nvPr/>
        </p:nvSpPr>
        <p:spPr>
          <a:xfrm>
            <a:off x="10058400" y="0"/>
            <a:ext cx="1585913" cy="2000249"/>
          </a:xfrm>
          <a:prstGeom prst="foldedCorner">
            <a:avLst>
              <a:gd name="adj" fmla="val 3071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Aptos Narrow" panose="020B000402020202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03117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CDE2F5-8E31-FA12-7A06-E0CE4F44FBD4}"/>
              </a:ext>
            </a:extLst>
          </p:cNvPr>
          <p:cNvSpPr txBox="1"/>
          <p:nvPr/>
        </p:nvSpPr>
        <p:spPr>
          <a:xfrm>
            <a:off x="1362172" y="1691644"/>
            <a:ext cx="946765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rgbClr val="00B0F0"/>
                </a:solidFill>
                <a:latin typeface="Montserrat Bold" panose="00000800000000000000" pitchFamily="2" charset="0"/>
              </a:rPr>
              <a:t>SUBJECT-VERB</a:t>
            </a:r>
            <a:endParaRPr lang="en-IN" sz="8800" dirty="0">
              <a:solidFill>
                <a:srgbClr val="00B0F0"/>
              </a:solidFill>
              <a:latin typeface="Montserrat Bold" panose="000008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CBFF0D-1761-D260-A539-182D5073273E}"/>
              </a:ext>
            </a:extLst>
          </p:cNvPr>
          <p:cNvSpPr txBox="1"/>
          <p:nvPr/>
        </p:nvSpPr>
        <p:spPr>
          <a:xfrm>
            <a:off x="2945938" y="3264731"/>
            <a:ext cx="630012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bg1"/>
                </a:solidFill>
                <a:latin typeface="Signatie" panose="02000500000000000000" pitchFamily="2" charset="0"/>
              </a:rPr>
              <a:t>Agreement</a:t>
            </a:r>
            <a:endParaRPr lang="en-IN" sz="8800" dirty="0">
              <a:solidFill>
                <a:schemeClr val="bg1"/>
              </a:solidFill>
              <a:latin typeface="Signatie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274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BD969E-7A01-B0D1-2A9E-EEA3BD440AC0}"/>
              </a:ext>
            </a:extLst>
          </p:cNvPr>
          <p:cNvSpPr txBox="1"/>
          <p:nvPr/>
        </p:nvSpPr>
        <p:spPr>
          <a:xfrm>
            <a:off x="1686779" y="643787"/>
            <a:ext cx="88184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dirty="0">
                <a:solidFill>
                  <a:srgbClr val="00B0F0"/>
                </a:solidFill>
                <a:latin typeface="Montserrat" panose="00000500000000000000" pitchFamily="2" charset="0"/>
              </a:rPr>
              <a:t>Subject-Verb agreement</a:t>
            </a:r>
            <a:endParaRPr lang="en-IN" sz="5400" dirty="0">
              <a:solidFill>
                <a:srgbClr val="00B0F0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310871-D678-9CED-1DA8-6550CB798592}"/>
              </a:ext>
            </a:extLst>
          </p:cNvPr>
          <p:cNvSpPr txBox="1"/>
          <p:nvPr/>
        </p:nvSpPr>
        <p:spPr>
          <a:xfrm>
            <a:off x="464977" y="2228795"/>
            <a:ext cx="1152751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Montserrat" panose="00000500000000000000" pitchFamily="2" charset="0"/>
              </a:rPr>
              <a:t>Singular Subjects and Verbs:</a:t>
            </a:r>
          </a:p>
          <a:p>
            <a:endParaRPr lang="en-US" sz="2400" dirty="0">
              <a:solidFill>
                <a:srgbClr val="00B0F0"/>
              </a:solidFill>
              <a:latin typeface="Montserrat" panose="00000500000000000000" pitchFamily="2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A singular subject (one person, thing, or concept) requires a singular verb.</a:t>
            </a:r>
          </a:p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Example: The cat </a:t>
            </a:r>
            <a:r>
              <a:rPr lang="en-US" sz="2400" dirty="0">
                <a:solidFill>
                  <a:srgbClr val="00B0F0"/>
                </a:solidFill>
                <a:latin typeface="Montserrat" panose="00000500000000000000" pitchFamily="2" charset="0"/>
              </a:rPr>
              <a:t>is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 sleeping.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038975-1A8D-DF8F-AC5D-A8573FCE4C5E}"/>
              </a:ext>
            </a:extLst>
          </p:cNvPr>
          <p:cNvSpPr txBox="1"/>
          <p:nvPr/>
        </p:nvSpPr>
        <p:spPr>
          <a:xfrm>
            <a:off x="464977" y="4273495"/>
            <a:ext cx="11365612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Montserrat" panose="00000500000000000000" pitchFamily="2" charset="0"/>
              </a:rPr>
              <a:t>Plural Subjects and Verbs:</a:t>
            </a:r>
          </a:p>
          <a:p>
            <a:endParaRPr lang="en-US" sz="2800" dirty="0">
              <a:solidFill>
                <a:srgbClr val="00B0F0"/>
              </a:solidFill>
              <a:latin typeface="Montserrat" panose="00000500000000000000" pitchFamily="2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A plural subject (more than one, thing, or concept) requires a plural verb.</a:t>
            </a:r>
          </a:p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Example: The cats </a:t>
            </a:r>
            <a:r>
              <a:rPr lang="en-US" sz="2400" dirty="0">
                <a:solidFill>
                  <a:srgbClr val="00B0F0"/>
                </a:solidFill>
                <a:latin typeface="Montserrat" panose="00000500000000000000" pitchFamily="2" charset="0"/>
              </a:rPr>
              <a:t>are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 sleeping.</a:t>
            </a:r>
            <a:endParaRPr lang="en-IN" sz="20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716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BD969E-7A01-B0D1-2A9E-EEA3BD440AC0}"/>
              </a:ext>
            </a:extLst>
          </p:cNvPr>
          <p:cNvSpPr txBox="1"/>
          <p:nvPr/>
        </p:nvSpPr>
        <p:spPr>
          <a:xfrm>
            <a:off x="429224" y="406825"/>
            <a:ext cx="41200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dirty="0">
                <a:solidFill>
                  <a:srgbClr val="00B0F0"/>
                </a:solidFill>
                <a:latin typeface="Montserrat" panose="00000500000000000000" pitchFamily="2" charset="0"/>
              </a:rPr>
              <a:t>Basic Rules</a:t>
            </a:r>
            <a:endParaRPr lang="en-IN" sz="5400" dirty="0">
              <a:solidFill>
                <a:srgbClr val="00B0F0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310871-D678-9CED-1DA8-6550CB798592}"/>
              </a:ext>
            </a:extLst>
          </p:cNvPr>
          <p:cNvSpPr txBox="1"/>
          <p:nvPr/>
        </p:nvSpPr>
        <p:spPr>
          <a:xfrm>
            <a:off x="429224" y="1743886"/>
            <a:ext cx="11333552" cy="42780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  <a:latin typeface="Montserrat" panose="00000500000000000000" pitchFamily="2" charset="0"/>
              </a:rPr>
              <a:t>Rule 1: 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Singular subjects take singular verbs (e.g., he runs).</a:t>
            </a:r>
          </a:p>
          <a:p>
            <a:endParaRPr lang="en-US" sz="28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US" sz="2400" dirty="0">
                <a:solidFill>
                  <a:srgbClr val="00B0F0"/>
                </a:solidFill>
                <a:latin typeface="Montserrat" panose="00000500000000000000" pitchFamily="2" charset="0"/>
              </a:rPr>
              <a:t>Rule 2: 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Plural subjects take plural verbs (e.g., they run).</a:t>
            </a:r>
          </a:p>
          <a:p>
            <a:endParaRPr lang="en-US" sz="2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US" sz="2400" dirty="0">
                <a:solidFill>
                  <a:srgbClr val="00B0F0"/>
                </a:solidFill>
                <a:latin typeface="Montserrat" panose="00000500000000000000" pitchFamily="2" charset="0"/>
              </a:rPr>
              <a:t>Rule 3: 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Indefinite pronouns (e.g., everyone, nobody, each, either, neither) </a:t>
            </a:r>
          </a:p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are usually singular and take singular verbs.</a:t>
            </a:r>
          </a:p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Example: Everyone wants to go.</a:t>
            </a:r>
          </a:p>
          <a:p>
            <a:endParaRPr lang="en-US" sz="2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US" sz="2400" dirty="0">
                <a:solidFill>
                  <a:srgbClr val="00B0F0"/>
                </a:solidFill>
                <a:latin typeface="Montserrat" panose="00000500000000000000" pitchFamily="2" charset="0"/>
              </a:rPr>
              <a:t>Rule 4: 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Some nouns that appear plural but are treated as singular </a:t>
            </a:r>
          </a:p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(e.g., mathematics, news, politics) take singular verbs.</a:t>
            </a:r>
          </a:p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Example: Politics is a complex topic.</a:t>
            </a:r>
          </a:p>
        </p:txBody>
      </p:sp>
    </p:spTree>
    <p:extLst>
      <p:ext uri="{BB962C8B-B14F-4D97-AF65-F5344CB8AC3E}">
        <p14:creationId xmlns:p14="http://schemas.microsoft.com/office/powerpoint/2010/main" val="3740481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BD969E-7A01-B0D1-2A9E-EEA3BD440AC0}"/>
              </a:ext>
            </a:extLst>
          </p:cNvPr>
          <p:cNvSpPr txBox="1"/>
          <p:nvPr/>
        </p:nvSpPr>
        <p:spPr>
          <a:xfrm>
            <a:off x="7522751" y="143589"/>
            <a:ext cx="41200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dirty="0">
                <a:solidFill>
                  <a:srgbClr val="00B0F0"/>
                </a:solidFill>
                <a:latin typeface="Montserrat" panose="00000500000000000000" pitchFamily="2" charset="0"/>
              </a:rPr>
              <a:t>Basic Rules</a:t>
            </a:r>
            <a:endParaRPr lang="en-IN" sz="5400" dirty="0">
              <a:solidFill>
                <a:srgbClr val="00B0F0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310871-D678-9CED-1DA8-6550CB798592}"/>
              </a:ext>
            </a:extLst>
          </p:cNvPr>
          <p:cNvSpPr txBox="1"/>
          <p:nvPr/>
        </p:nvSpPr>
        <p:spPr>
          <a:xfrm>
            <a:off x="370714" y="1066919"/>
            <a:ext cx="11450571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Special Cases:</a:t>
            </a:r>
          </a:p>
          <a:p>
            <a:endParaRPr lang="en-US" sz="28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US" sz="2400" dirty="0">
                <a:solidFill>
                  <a:srgbClr val="00B0F0"/>
                </a:solidFill>
                <a:latin typeface="Montserrat" panose="00000500000000000000" pitchFamily="2" charset="0"/>
              </a:rPr>
              <a:t>Compound Subjects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: Use a plural verb when subjects are joined by "and" </a:t>
            </a:r>
          </a:p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(unless referring to a single entity).</a:t>
            </a:r>
          </a:p>
          <a:p>
            <a:endParaRPr lang="en-US" sz="2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Example: Jack </a:t>
            </a:r>
            <a:r>
              <a:rPr lang="en-US" sz="2400" dirty="0">
                <a:solidFill>
                  <a:srgbClr val="00B0F0"/>
                </a:solidFill>
                <a:latin typeface="Montserrat" panose="00000500000000000000" pitchFamily="2" charset="0"/>
              </a:rPr>
              <a:t>and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 Jill are siblings.</a:t>
            </a:r>
          </a:p>
          <a:p>
            <a:endParaRPr lang="en-US" sz="2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US" sz="2400" dirty="0">
                <a:solidFill>
                  <a:srgbClr val="00B0F0"/>
                </a:solidFill>
                <a:latin typeface="Montserrat" panose="00000500000000000000" pitchFamily="2" charset="0"/>
              </a:rPr>
              <a:t>Collective Nouns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: Use a singular verb or plural depending on the context.</a:t>
            </a:r>
          </a:p>
          <a:p>
            <a:endParaRPr lang="en-US" sz="2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Example: </a:t>
            </a:r>
          </a:p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The team </a:t>
            </a:r>
            <a:r>
              <a:rPr lang="en-US" sz="2400" dirty="0">
                <a:solidFill>
                  <a:srgbClr val="00B0F0"/>
                </a:solidFill>
                <a:latin typeface="Montserrat" panose="00000500000000000000" pitchFamily="2" charset="0"/>
              </a:rPr>
              <a:t>is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 celebrating their victory.</a:t>
            </a:r>
          </a:p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The team members </a:t>
            </a:r>
            <a:r>
              <a:rPr lang="en-US" sz="2400" dirty="0">
                <a:solidFill>
                  <a:srgbClr val="00B0F0"/>
                </a:solidFill>
                <a:latin typeface="Montserrat" panose="00000500000000000000" pitchFamily="2" charset="0"/>
              </a:rPr>
              <a:t>are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 going for a practice. </a:t>
            </a:r>
          </a:p>
          <a:p>
            <a:endParaRPr lang="en-US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9979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BD969E-7A01-B0D1-2A9E-EEA3BD440AC0}"/>
              </a:ext>
            </a:extLst>
          </p:cNvPr>
          <p:cNvSpPr txBox="1"/>
          <p:nvPr/>
        </p:nvSpPr>
        <p:spPr>
          <a:xfrm>
            <a:off x="8170823" y="287882"/>
            <a:ext cx="35734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dirty="0">
                <a:solidFill>
                  <a:srgbClr val="00B0F0"/>
                </a:solidFill>
                <a:latin typeface="Montserrat" panose="00000500000000000000" pitchFamily="2" charset="0"/>
              </a:rPr>
              <a:t>Examples</a:t>
            </a:r>
            <a:endParaRPr lang="en-IN" sz="5400" dirty="0">
              <a:solidFill>
                <a:srgbClr val="00B0F0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310871-D678-9CED-1DA8-6550CB798592}"/>
              </a:ext>
            </a:extLst>
          </p:cNvPr>
          <p:cNvSpPr txBox="1"/>
          <p:nvPr/>
        </p:nvSpPr>
        <p:spPr>
          <a:xfrm>
            <a:off x="287587" y="1211212"/>
            <a:ext cx="10360529" cy="5139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Montserrat" panose="00000500000000000000" pitchFamily="2" charset="0"/>
              </a:rPr>
              <a:t>Singular subject with singular verb:</a:t>
            </a:r>
          </a:p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She plays the piano.</a:t>
            </a:r>
          </a:p>
          <a:p>
            <a:endParaRPr lang="en-US" sz="28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US" sz="2800" dirty="0">
                <a:solidFill>
                  <a:srgbClr val="00B0F0"/>
                </a:solidFill>
                <a:latin typeface="Montserrat" panose="00000500000000000000" pitchFamily="2" charset="0"/>
              </a:rPr>
              <a:t>Plural subject with plural verb:</a:t>
            </a:r>
          </a:p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They play the guitar.</a:t>
            </a:r>
          </a:p>
          <a:p>
            <a:endParaRPr lang="en-US" sz="28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US" sz="2800" dirty="0">
                <a:solidFill>
                  <a:srgbClr val="00B0F0"/>
                </a:solidFill>
                <a:latin typeface="Montserrat" panose="00000500000000000000" pitchFamily="2" charset="0"/>
              </a:rPr>
              <a:t>Indefinite pronoun with singular verb:</a:t>
            </a:r>
          </a:p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Each student has a textbook.</a:t>
            </a:r>
          </a:p>
          <a:p>
            <a:endParaRPr lang="en-US" sz="28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US" sz="2800" dirty="0">
                <a:solidFill>
                  <a:srgbClr val="00B0F0"/>
                </a:solidFill>
                <a:latin typeface="Montserrat" panose="00000500000000000000" pitchFamily="2" charset="0"/>
              </a:rPr>
              <a:t>Collective noun with singular or plural verb:</a:t>
            </a:r>
          </a:p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Singular Verb: "The audience was captivated by the performance."</a:t>
            </a:r>
          </a:p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Plural Verb: "The audience were clapping enthusiastically."</a:t>
            </a:r>
            <a:endParaRPr lang="en-US" sz="20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602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304</Words>
  <Application>Microsoft Office PowerPoint</Application>
  <PresentationFormat>Widescreen</PresentationFormat>
  <Paragraphs>52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Aharoni</vt:lpstr>
      <vt:lpstr>Aptos Narrow</vt:lpstr>
      <vt:lpstr>Arial</vt:lpstr>
      <vt:lpstr>Calibri</vt:lpstr>
      <vt:lpstr>Calibri Light</vt:lpstr>
      <vt:lpstr>Montserrat</vt:lpstr>
      <vt:lpstr>Montserrat Bold</vt:lpstr>
      <vt:lpstr>Signatie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IPA BFSBC</dc:creator>
  <cp:lastModifiedBy>IPA BFSBC</cp:lastModifiedBy>
  <cp:revision>36</cp:revision>
  <dcterms:created xsi:type="dcterms:W3CDTF">2024-01-28T15:20:08Z</dcterms:created>
  <dcterms:modified xsi:type="dcterms:W3CDTF">2024-04-29T07:16:10Z</dcterms:modified>
</cp:coreProperties>
</file>