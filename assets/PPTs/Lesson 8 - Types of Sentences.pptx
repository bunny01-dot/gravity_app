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DF29-994F-4016-A72F-FA035FF84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36878-561A-07F1-5BB5-3A8456C6B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FEED8-A0D0-F62F-B03B-047616EE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EDB3F-549E-EE9E-C348-062FB16B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A14A6-AD7C-46C4-B2BF-870AE88E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5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77AD-E51D-4961-2357-4A3B492F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B6D4-D220-7E00-2043-97BF4CE7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BFE5-51B0-8F76-9EA1-AB9627A7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4987-FBD0-078F-42C7-92EA735A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BC86E-FBB6-9711-A5D1-3540F44A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9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BC26-D83A-7B77-9027-71BF3942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3A666-9FDB-297A-5F20-5769C6D3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E80C-732A-2A63-C2FC-42E57540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D767-C239-35F9-EC13-B8A226C7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1574-FC30-138A-ED2A-FB692F5D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5034-AA35-99B9-FC59-34ADCEE4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7426-886E-3EC9-AABC-8EEE1D1CB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D36E6-D303-5EE5-25B8-C0144320B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6557E-618B-A959-B873-09FF1491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0AECC-F36F-1F1A-3977-CC87E628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16510-4F28-CA06-D101-BAE71F2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4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2201-B5AE-163B-F61F-5C0F4487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96307-3E99-9FC1-32FB-ABA0DA62C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76FF9-A7B1-B65B-3D08-BE1B58753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BDF89-81B9-49DE-9A84-D53D27D08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B6D9A-BE20-6289-1768-22CD7CB5F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200BB-3BA0-56F0-0C1C-40E34F14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459F0-9FE4-0EA4-9E11-896B914E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43783-3387-666B-BBFE-0AB2502A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8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C739-A682-0DF3-0417-776522A4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E69B4-B217-F44A-AEB4-A7A1E8E8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47F3B-A8D4-C3C3-AA08-D7EF016B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F91BC-6C82-B366-521F-A6D93887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6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68CEF-ECCA-E4CF-960C-A827303B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E9057-F29F-B07D-7486-3B0A6BDC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A31C-0AB0-C4A5-88D7-76E6B6BA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4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43E1-EE33-C85C-335D-D0C53222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CF8-15D0-D991-2636-358E8962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D545F-14EC-E670-91DA-D27C5B209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593B-5A10-6FE0-804F-8806C96B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F9B53-457D-BCA9-79F1-CFACE938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9203-2DA0-6665-A713-BA316456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8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35A1-3F15-7C8E-9973-0C4BFEBF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EBA8B-6A12-443D-582F-1C1DE11E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4B03E-829C-A89B-DEF4-956D8949E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59819-931A-3CC2-36BC-19012E8C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D8038-DA20-46C1-BE2B-704446EF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0368A-BF1F-BB78-FFD0-8EF33DE9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3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3315-5CDF-21DE-4236-389DED53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9DB7E-E672-75B4-204C-951794C43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775F3-35BB-57DF-908A-6B7F5901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8F3B-8B2B-9B71-4835-D04B5F2F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AE83-5B61-233C-A8C6-62877280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1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EDAAC-FF64-C3A4-BD3D-F33EB230C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8314C-869E-7A74-EDFC-272ABE107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98511-5020-12CE-7697-CD0FDB5B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A7DE9-6E61-7342-2FE2-20C37C51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9229-5968-F9F3-744A-AB29925F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8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1F230-F08F-88FB-9ED2-925D06F0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E0377-A45D-2469-26F5-C44A0755C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CB6F1-1915-2899-DE90-60A24026E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A894-39C2-64DC-A6F4-085688495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D84B7-9EED-586C-0BB2-E5811B61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C1DC6-3E41-96A6-A7D6-EB4E0DAA8EA7}"/>
              </a:ext>
            </a:extLst>
          </p:cNvPr>
          <p:cNvSpPr txBox="1"/>
          <p:nvPr/>
        </p:nvSpPr>
        <p:spPr>
          <a:xfrm>
            <a:off x="690513" y="2589582"/>
            <a:ext cx="1081097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ln w="5715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ENGLISH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1488567"/>
            <a:ext cx="605806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SPOKEN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F995EFD6-756A-C993-DF1B-95B7BEA9A049}"/>
              </a:ext>
            </a:extLst>
          </p:cNvPr>
          <p:cNvSpPr/>
          <p:nvPr/>
        </p:nvSpPr>
        <p:spPr>
          <a:xfrm>
            <a:off x="10058400" y="0"/>
            <a:ext cx="1585913" cy="2000249"/>
          </a:xfrm>
          <a:prstGeom prst="foldedCorner">
            <a:avLst>
              <a:gd name="adj" fmla="val 3071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 Narrow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0311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1540105" y="971208"/>
            <a:ext cx="911179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accent2"/>
                </a:solidFill>
                <a:latin typeface="Montserrat" panose="00000500000000000000" pitchFamily="2" charset="0"/>
              </a:rPr>
              <a:t>TYPES OF SENTECES</a:t>
            </a:r>
            <a:endParaRPr lang="en-IN" sz="6600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15B7B-451A-7805-2F71-54809FAA7883}"/>
              </a:ext>
            </a:extLst>
          </p:cNvPr>
          <p:cNvSpPr txBox="1"/>
          <p:nvPr/>
        </p:nvSpPr>
        <p:spPr>
          <a:xfrm>
            <a:off x="2539578" y="2563459"/>
            <a:ext cx="71128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Montserrat" panose="00000500000000000000" pitchFamily="2" charset="0"/>
              </a:rPr>
              <a:t>1. Assertive or Statement</a:t>
            </a:r>
            <a:endParaRPr lang="en-IN" sz="4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EE8A0-0EB4-E5BA-D2F6-806FB969CE2B}"/>
              </a:ext>
            </a:extLst>
          </p:cNvPr>
          <p:cNvSpPr txBox="1"/>
          <p:nvPr/>
        </p:nvSpPr>
        <p:spPr>
          <a:xfrm>
            <a:off x="2539578" y="3432435"/>
            <a:ext cx="38539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Montserrat" panose="00000500000000000000" pitchFamily="2" charset="0"/>
              </a:rPr>
              <a:t>2. Imperative</a:t>
            </a:r>
            <a:endParaRPr lang="en-IN" sz="4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180A68-F59E-E5D0-51BA-AD172DCB2681}"/>
              </a:ext>
            </a:extLst>
          </p:cNvPr>
          <p:cNvSpPr txBox="1"/>
          <p:nvPr/>
        </p:nvSpPr>
        <p:spPr>
          <a:xfrm>
            <a:off x="2539578" y="4301411"/>
            <a:ext cx="44486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Montserrat" panose="00000500000000000000" pitchFamily="2" charset="0"/>
              </a:rPr>
              <a:t>3. Interrogative</a:t>
            </a:r>
            <a:endParaRPr lang="en-IN" sz="4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22936-2619-A622-9FA9-A49BEF9E6AB7}"/>
              </a:ext>
            </a:extLst>
          </p:cNvPr>
          <p:cNvSpPr txBox="1"/>
          <p:nvPr/>
        </p:nvSpPr>
        <p:spPr>
          <a:xfrm>
            <a:off x="2539578" y="5170387"/>
            <a:ext cx="43540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Montserrat" panose="00000500000000000000" pitchFamily="2" charset="0"/>
              </a:rPr>
              <a:t>4. Exclamatory</a:t>
            </a:r>
            <a:endParaRPr lang="en-IN" sz="4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274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293196" y="370266"/>
            <a:ext cx="55980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highlight>
                  <a:srgbClr val="800000"/>
                </a:highlight>
                <a:latin typeface="Montserrat" panose="00000500000000000000" pitchFamily="2" charset="0"/>
              </a:rPr>
              <a:t>TYPES OF SENTECES</a:t>
            </a:r>
            <a:endParaRPr lang="en-IN" sz="4000" dirty="0">
              <a:solidFill>
                <a:schemeClr val="bg1"/>
              </a:solidFill>
              <a:highlight>
                <a:srgbClr val="800000"/>
              </a:highlight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15B7B-451A-7805-2F71-54809FAA7883}"/>
              </a:ext>
            </a:extLst>
          </p:cNvPr>
          <p:cNvSpPr txBox="1"/>
          <p:nvPr/>
        </p:nvSpPr>
        <p:spPr>
          <a:xfrm>
            <a:off x="293196" y="1498262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1. Assertive or Statement</a:t>
            </a:r>
            <a:endParaRPr lang="en-IN" sz="32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222E3-66C1-63D4-6175-38C79FB27416}"/>
              </a:ext>
            </a:extLst>
          </p:cNvPr>
          <p:cNvSpPr txBox="1"/>
          <p:nvPr/>
        </p:nvSpPr>
        <p:spPr>
          <a:xfrm>
            <a:off x="293196" y="2181471"/>
            <a:ext cx="7880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It is a normal sentence. It can be also a fact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FE3703-7F85-BB0A-3817-3163050A506D}"/>
              </a:ext>
            </a:extLst>
          </p:cNvPr>
          <p:cNvSpPr txBox="1"/>
          <p:nvPr/>
        </p:nvSpPr>
        <p:spPr>
          <a:xfrm>
            <a:off x="293196" y="2966301"/>
            <a:ext cx="2018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Examples: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1CA74-DA09-9C63-3378-B84B5E9B149A}"/>
              </a:ext>
            </a:extLst>
          </p:cNvPr>
          <p:cNvSpPr txBox="1"/>
          <p:nvPr/>
        </p:nvSpPr>
        <p:spPr>
          <a:xfrm>
            <a:off x="1793882" y="3489521"/>
            <a:ext cx="8275022" cy="26048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The sun rises in the east.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I think chocolate ice cream is delicious.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The streets are crowded during rush hour.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She plans to start her own business.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329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556432" y="494130"/>
            <a:ext cx="55980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highlight>
                  <a:srgbClr val="800000"/>
                </a:highlight>
                <a:latin typeface="Montserrat" panose="00000500000000000000" pitchFamily="2" charset="0"/>
              </a:rPr>
              <a:t>TYPES OF SENTECES</a:t>
            </a:r>
            <a:endParaRPr lang="en-IN" sz="4000" dirty="0">
              <a:solidFill>
                <a:schemeClr val="bg1"/>
              </a:solidFill>
              <a:highlight>
                <a:srgbClr val="800000"/>
              </a:highlight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15B7B-451A-7805-2F71-54809FAA7883}"/>
              </a:ext>
            </a:extLst>
          </p:cNvPr>
          <p:cNvSpPr txBox="1"/>
          <p:nvPr/>
        </p:nvSpPr>
        <p:spPr>
          <a:xfrm>
            <a:off x="556432" y="1463626"/>
            <a:ext cx="59538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2. Imperative or Statement</a:t>
            </a:r>
            <a:endParaRPr lang="en-IN" sz="32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222E3-66C1-63D4-6175-38C79FB27416}"/>
              </a:ext>
            </a:extLst>
          </p:cNvPr>
          <p:cNvSpPr txBox="1"/>
          <p:nvPr/>
        </p:nvSpPr>
        <p:spPr>
          <a:xfrm>
            <a:off x="353082" y="2146835"/>
            <a:ext cx="11485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It consists of </a:t>
            </a:r>
            <a:r>
              <a:rPr lang="en-US" sz="2800" b="1" dirty="0">
                <a:solidFill>
                  <a:schemeClr val="bg1"/>
                </a:solidFill>
                <a:latin typeface="Montserrat" panose="00000500000000000000" pitchFamily="2" charset="0"/>
              </a:rPr>
              <a:t>request, command, instruction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and</a:t>
            </a:r>
            <a:r>
              <a:rPr lang="en-US" sz="2800" b="1" dirty="0">
                <a:solidFill>
                  <a:schemeClr val="bg1"/>
                </a:solidFill>
                <a:latin typeface="Montserrat" panose="00000500000000000000" pitchFamily="2" charset="0"/>
              </a:rPr>
              <a:t> suggestion)</a:t>
            </a:r>
            <a:endParaRPr lang="en-IN" sz="28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FE3703-7F85-BB0A-3817-3163050A506D}"/>
              </a:ext>
            </a:extLst>
          </p:cNvPr>
          <p:cNvSpPr txBox="1"/>
          <p:nvPr/>
        </p:nvSpPr>
        <p:spPr>
          <a:xfrm>
            <a:off x="556432" y="2931665"/>
            <a:ext cx="2018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Examples: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1CA74-DA09-9C63-3378-B84B5E9B149A}"/>
              </a:ext>
            </a:extLst>
          </p:cNvPr>
          <p:cNvSpPr txBox="1"/>
          <p:nvPr/>
        </p:nvSpPr>
        <p:spPr>
          <a:xfrm>
            <a:off x="1793882" y="3489521"/>
            <a:ext cx="9214382" cy="26048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Close the door. (command)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Please pass me the salt. (request)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Follow the signs to the parking lot. (instruction)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Let's go for a walk in the park. (suggestion)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634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556432" y="494130"/>
            <a:ext cx="55980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highlight>
                  <a:srgbClr val="800000"/>
                </a:highlight>
                <a:latin typeface="Montserrat" panose="00000500000000000000" pitchFamily="2" charset="0"/>
              </a:rPr>
              <a:t>TYPES OF SENTECES</a:t>
            </a:r>
            <a:endParaRPr lang="en-IN" sz="4000" dirty="0">
              <a:solidFill>
                <a:schemeClr val="bg1"/>
              </a:solidFill>
              <a:highlight>
                <a:srgbClr val="800000"/>
              </a:highlight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15B7B-451A-7805-2F71-54809FAA7883}"/>
              </a:ext>
            </a:extLst>
          </p:cNvPr>
          <p:cNvSpPr txBox="1"/>
          <p:nvPr/>
        </p:nvSpPr>
        <p:spPr>
          <a:xfrm>
            <a:off x="556432" y="1463626"/>
            <a:ext cx="34339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3. </a:t>
            </a:r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Interrogative</a:t>
            </a:r>
            <a:endParaRPr lang="en-IN" sz="32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222E3-66C1-63D4-6175-38C79FB27416}"/>
              </a:ext>
            </a:extLst>
          </p:cNvPr>
          <p:cNvSpPr txBox="1"/>
          <p:nvPr/>
        </p:nvSpPr>
        <p:spPr>
          <a:xfrm>
            <a:off x="556432" y="2146835"/>
            <a:ext cx="35541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It is question type. 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FE3703-7F85-BB0A-3817-3163050A506D}"/>
              </a:ext>
            </a:extLst>
          </p:cNvPr>
          <p:cNvSpPr txBox="1"/>
          <p:nvPr/>
        </p:nvSpPr>
        <p:spPr>
          <a:xfrm>
            <a:off x="556432" y="2931665"/>
            <a:ext cx="2018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Examples: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1CA74-DA09-9C63-3378-B84B5E9B149A}"/>
              </a:ext>
            </a:extLst>
          </p:cNvPr>
          <p:cNvSpPr txBox="1"/>
          <p:nvPr/>
        </p:nvSpPr>
        <p:spPr>
          <a:xfrm>
            <a:off x="1793882" y="3489521"/>
            <a:ext cx="9235220" cy="26048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Are you coming to the party? (yes or no)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Who is the new manager? (</a:t>
            </a:r>
            <a:r>
              <a:rPr lang="en-US" sz="2800" dirty="0" err="1">
                <a:solidFill>
                  <a:schemeClr val="bg1"/>
                </a:solidFill>
                <a:latin typeface="Montserrat" panose="00000500000000000000" pitchFamily="2" charset="0"/>
              </a:rPr>
              <a:t>wh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 type)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Do you want tea or coffee? (alternative)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You're going to the concert, aren't you? (q tags)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26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556432" y="355585"/>
            <a:ext cx="55980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highlight>
                  <a:srgbClr val="800000"/>
                </a:highlight>
                <a:latin typeface="Montserrat" panose="00000500000000000000" pitchFamily="2" charset="0"/>
              </a:rPr>
              <a:t>TYPES OF SENTECES</a:t>
            </a:r>
            <a:endParaRPr lang="en-IN" sz="4000" dirty="0">
              <a:solidFill>
                <a:schemeClr val="bg1"/>
              </a:solidFill>
              <a:highlight>
                <a:srgbClr val="800000"/>
              </a:highlight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15B7B-451A-7805-2F71-54809FAA7883}"/>
              </a:ext>
            </a:extLst>
          </p:cNvPr>
          <p:cNvSpPr txBox="1"/>
          <p:nvPr/>
        </p:nvSpPr>
        <p:spPr>
          <a:xfrm>
            <a:off x="556432" y="1325081"/>
            <a:ext cx="33409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4. </a:t>
            </a:r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Exclamatory</a:t>
            </a:r>
            <a:endParaRPr lang="en-IN" sz="32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222E3-66C1-63D4-6175-38C79FB27416}"/>
              </a:ext>
            </a:extLst>
          </p:cNvPr>
          <p:cNvSpPr txBox="1"/>
          <p:nvPr/>
        </p:nvSpPr>
        <p:spPr>
          <a:xfrm>
            <a:off x="556432" y="2008290"/>
            <a:ext cx="781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It is used to express feelings and emotions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FE3703-7F85-BB0A-3817-3163050A506D}"/>
              </a:ext>
            </a:extLst>
          </p:cNvPr>
          <p:cNvSpPr txBox="1"/>
          <p:nvPr/>
        </p:nvSpPr>
        <p:spPr>
          <a:xfrm>
            <a:off x="556432" y="2793120"/>
            <a:ext cx="2018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Examples: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1CA74-DA09-9C63-3378-B84B5E9B149A}"/>
              </a:ext>
            </a:extLst>
          </p:cNvPr>
          <p:cNvSpPr txBox="1"/>
          <p:nvPr/>
        </p:nvSpPr>
        <p:spPr>
          <a:xfrm>
            <a:off x="1802196" y="3281704"/>
            <a:ext cx="8587607" cy="32511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What a beautiful sunset! (surprise)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Yay! We won the game! (excitement)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What a talented artist she is! (appreciation)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solidFill>
                  <a:schemeClr val="bg1"/>
                </a:solidFill>
                <a:latin typeface="Montserrat" panose="00000500000000000000" pitchFamily="2" charset="0"/>
              </a:rPr>
              <a:t>That's so unfair! (anger)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solidFill>
                  <a:schemeClr val="bg1"/>
                </a:solidFill>
                <a:latin typeface="Montserrat" panose="00000500000000000000" pitchFamily="2" charset="0"/>
              </a:rPr>
              <a:t>Oh! that’s so bad. (sad)</a:t>
            </a:r>
          </a:p>
        </p:txBody>
      </p:sp>
    </p:spTree>
    <p:extLst>
      <p:ext uri="{BB962C8B-B14F-4D97-AF65-F5344CB8AC3E}">
        <p14:creationId xmlns:p14="http://schemas.microsoft.com/office/powerpoint/2010/main" val="116263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251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Aharoni</vt:lpstr>
      <vt:lpstr>Aptos Narrow</vt:lpstr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IPA BFSBC</dc:creator>
  <cp:lastModifiedBy>IPA BFSBC</cp:lastModifiedBy>
  <cp:revision>27</cp:revision>
  <dcterms:created xsi:type="dcterms:W3CDTF">2024-01-28T15:20:08Z</dcterms:created>
  <dcterms:modified xsi:type="dcterms:W3CDTF">2024-04-29T06:25:49Z</dcterms:modified>
</cp:coreProperties>
</file>