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9886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30482" y="1868835"/>
            <a:ext cx="5882887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and Indirect Speech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439842" y="2569815"/>
            <a:ext cx="226416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Reported Speech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761"/>
            <a:ext cx="7924800" cy="148977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044130"/>
            <a:ext cx="7924800" cy="148977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Direct and Indirect Speech?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8200" y="1554361"/>
            <a:ext cx="761695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Speech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1828651"/>
            <a:ext cx="761695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the exact words spoken by someone, using quotation marks.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38200" y="2156222"/>
            <a:ext cx="761695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She said, "I am busy now."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38200" y="3272730"/>
            <a:ext cx="761695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Indirect Speech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200" y="3547021"/>
            <a:ext cx="761695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what someone said in our own words, without quotation marks.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8200" y="3874591"/>
            <a:ext cx="761695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She said that she was busy then.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Changes: Pronouns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23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64"/>
              </a:lnSpc>
              <a:buNone/>
            </a:pPr>
            <a:r>
              <a:rPr lang="en-US" sz="126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Person (I, we)</a:t>
            </a:r>
            <a:r>
              <a:rPr lang="en-US" sz="12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changes based on the subject.</a:t>
            </a:r>
            <a:endParaRPr lang="en-US" sz="1260" dirty="0"/>
          </a:p>
        </p:txBody>
      </p:sp>
      <p:sp>
        <p:nvSpPr>
          <p:cNvPr id="4" name="Text 2"/>
          <p:cNvSpPr/>
          <p:nvPr/>
        </p:nvSpPr>
        <p:spPr>
          <a:xfrm>
            <a:off x="914400" y="1625947"/>
            <a:ext cx="7620000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Ram said, "I am ill."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Indirect: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Ram said that he was ill.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2509689"/>
            <a:ext cx="8083296" cy="223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64"/>
              </a:lnSpc>
              <a:buNone/>
            </a:pPr>
            <a:r>
              <a:rPr lang="en-US" sz="126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Person (you)</a:t>
            </a:r>
            <a:r>
              <a:rPr lang="en-US" sz="12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changes based on the object.</a:t>
            </a:r>
            <a:endParaRPr lang="en-US" sz="1260" dirty="0"/>
          </a:p>
        </p:txBody>
      </p:sp>
      <p:sp>
        <p:nvSpPr>
          <p:cNvPr id="6" name="Text 4"/>
          <p:cNvSpPr/>
          <p:nvPr/>
        </p:nvSpPr>
        <p:spPr>
          <a:xfrm>
            <a:off x="914400" y="2733675"/>
            <a:ext cx="7620000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She says, "You have done well."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Indirect: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She says that I have done well.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91432"/>
            <a:ext cx="7924800" cy="460177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265908"/>
            <a:ext cx="7924800" cy="460177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2840385"/>
            <a:ext cx="7924800" cy="460177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3414861"/>
            <a:ext cx="7924800" cy="460177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Tense Changes (Backshifting)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09600" y="1249561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reporting verb is in </a:t>
            </a: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 tense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all present tenses shift back one step: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23900" y="1805732"/>
            <a:ext cx="2354946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24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Present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3032671" y="1805732"/>
            <a:ext cx="5495178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24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Simple Past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723900" y="2380208"/>
            <a:ext cx="2354946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24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Past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3032671" y="2380208"/>
            <a:ext cx="5495178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24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Past Perfect</a:t>
            </a:r>
            <a:endParaRPr lang="en-US" sz="1140" dirty="0"/>
          </a:p>
        </p:txBody>
      </p:sp>
      <p:sp>
        <p:nvSpPr>
          <p:cNvPr id="12" name="Text 10"/>
          <p:cNvSpPr/>
          <p:nvPr/>
        </p:nvSpPr>
        <p:spPr>
          <a:xfrm>
            <a:off x="723900" y="2954685"/>
            <a:ext cx="2354946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24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 Continuous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3032671" y="2954685"/>
            <a:ext cx="5495178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24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Past Continuous</a:t>
            </a:r>
            <a:endParaRPr lang="en-US" sz="1140" dirty="0"/>
          </a:p>
        </p:txBody>
      </p:sp>
      <p:sp>
        <p:nvSpPr>
          <p:cNvPr id="14" name="Text 12"/>
          <p:cNvSpPr/>
          <p:nvPr/>
        </p:nvSpPr>
        <p:spPr>
          <a:xfrm>
            <a:off x="723900" y="3529161"/>
            <a:ext cx="2354946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24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(will)</a:t>
            </a:r>
            <a:endParaRPr lang="en-US" sz="1140" dirty="0"/>
          </a:p>
        </p:txBody>
      </p:sp>
      <p:sp>
        <p:nvSpPr>
          <p:cNvPr id="15" name="Text 13"/>
          <p:cNvSpPr/>
          <p:nvPr/>
        </p:nvSpPr>
        <p:spPr>
          <a:xfrm>
            <a:off x="3032671" y="3529161"/>
            <a:ext cx="5495178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24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Conditional (would)</a:t>
            </a:r>
            <a:endParaRPr lang="en-US" sz="11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Tense Shift Examples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2079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"I am happy," she said.
</a:t>
            </a: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Indirect: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She said that she was happy.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"I have finished," he said.
</a:t>
            </a: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Indirect: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He said that he had finished.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"I will come," he said.
</a:t>
            </a: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Indirect: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He said that he would come.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Verbs Change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said/said to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changes based on the type of speech: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615232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asked / enquired / wondered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ordered / demanded / instructed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requested / pleaded / begged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Exclamation: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exclaimed / cried out / shouted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91432"/>
            <a:ext cx="7924800" cy="1615083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Questions: Yes/No Type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249561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</a:t>
            </a: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 </a:t>
            </a: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whether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 conjunction: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76300" y="1920032"/>
            <a:ext cx="757809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6300" y="2209502"/>
            <a:ext cx="757809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"Will you come tomorrow?" she asked.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76300" y="2575173"/>
            <a:ext cx="757809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Indirect: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76300" y="2864644"/>
            <a:ext cx="757809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asked whether/if I would come the next day.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91432"/>
            <a:ext cx="7924800" cy="1615083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Questions: WH-Question Type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249561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word stays, convert to </a:t>
            </a: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affirmative form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76300" y="1920032"/>
            <a:ext cx="757809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6300" y="2209502"/>
            <a:ext cx="757809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are you doing?" he asked.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76300" y="2575173"/>
            <a:ext cx="757809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Indirect: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76300" y="2864644"/>
            <a:ext cx="757809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asked what I was doing.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91432"/>
            <a:ext cx="7924800" cy="1889224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Commands and Requests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249561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Imperative verb changes to </a:t>
            </a: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infinitive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76300" y="1920032"/>
            <a:ext cx="7429500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Command:</a:t>
            </a:r>
            <a:endParaRPr lang="en-US" sz="1200" dirty="0"/>
          </a:p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Direct: "Sit down," he said.</a:t>
            </a:r>
            <a:endParaRPr lang="en-US" sz="1200" dirty="0"/>
          </a:p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Indirect: He ordered him to sit down.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6300" y="2712244"/>
            <a:ext cx="7429500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Request:</a:t>
            </a:r>
            <a:endParaRPr lang="en-US" sz="1200" dirty="0"/>
          </a:p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Direct: "Please help me," she said.</a:t>
            </a:r>
            <a:endParaRPr lang="en-US" sz="1200" dirty="0"/>
          </a:p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Indirect: She requested him to help her.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91432"/>
            <a:ext cx="7924800" cy="1462683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Exclamations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249561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interjection, convert to </a:t>
            </a: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assertive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form: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76300" y="1920032"/>
            <a:ext cx="7429500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Direct:</a:t>
            </a:r>
            <a:endParaRPr lang="en-US" sz="1200" dirty="0"/>
          </a:p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said, "Alas! I am ruined."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6300" y="2498973"/>
            <a:ext cx="7429500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Indirect:</a:t>
            </a:r>
            <a:endParaRPr lang="en-US" sz="1200" dirty="0"/>
          </a:p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exclaimed sadly that she was ruined.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91432"/>
            <a:ext cx="7924800" cy="460177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265908"/>
            <a:ext cx="7924800" cy="460177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2840385"/>
            <a:ext cx="7924800" cy="460177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3414861"/>
            <a:ext cx="7924800" cy="460177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and Place Adverbs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09600" y="1249561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Adverbs change based on the perspective shift: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23900" y="1805732"/>
            <a:ext cx="2354946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24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3032671" y="1805732"/>
            <a:ext cx="5495178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24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then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723900" y="2380208"/>
            <a:ext cx="2354946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24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3032671" y="2380208"/>
            <a:ext cx="5495178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24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that day</a:t>
            </a:r>
            <a:endParaRPr lang="en-US" sz="1140" dirty="0"/>
          </a:p>
        </p:txBody>
      </p:sp>
      <p:sp>
        <p:nvSpPr>
          <p:cNvPr id="12" name="Text 10"/>
          <p:cNvSpPr/>
          <p:nvPr/>
        </p:nvSpPr>
        <p:spPr>
          <a:xfrm>
            <a:off x="723900" y="2954685"/>
            <a:ext cx="2354946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24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tomorrow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3032671" y="2954685"/>
            <a:ext cx="5495178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24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the next day</a:t>
            </a:r>
            <a:endParaRPr lang="en-US" sz="1140" dirty="0"/>
          </a:p>
        </p:txBody>
      </p:sp>
      <p:sp>
        <p:nvSpPr>
          <p:cNvPr id="14" name="Text 12"/>
          <p:cNvSpPr/>
          <p:nvPr/>
        </p:nvSpPr>
        <p:spPr>
          <a:xfrm>
            <a:off x="723900" y="3529161"/>
            <a:ext cx="2354946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24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</a:t>
            </a:r>
            <a:endParaRPr lang="en-US" sz="1140" dirty="0"/>
          </a:p>
        </p:txBody>
      </p:sp>
      <p:sp>
        <p:nvSpPr>
          <p:cNvPr id="15" name="Text 13"/>
          <p:cNvSpPr/>
          <p:nvPr/>
        </p:nvSpPr>
        <p:spPr>
          <a:xfrm>
            <a:off x="3032671" y="3529161"/>
            <a:ext cx="5495178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24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there</a:t>
            </a:r>
            <a:endParaRPr lang="en-US" sz="11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22603" y="1002357"/>
            <a:ext cx="3498794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 Summary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118247" y="1718518"/>
            <a:ext cx="3212306" cy="2422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pronouns based on subject/object</a:t>
            </a:r>
            <a:endParaRPr lang="en-US" sz="1350" dirty="0"/>
          </a:p>
          <a:p>
            <a:pPr marL="342900" indent="-342900" algn="l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tenses back one step (past)</a:t>
            </a:r>
            <a:endParaRPr lang="en-US" sz="1350" dirty="0"/>
          </a:p>
          <a:p>
            <a:pPr marL="342900" indent="-342900" algn="l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appropriate reporting verbs</a:t>
            </a:r>
            <a:endParaRPr lang="en-US" sz="1350" dirty="0"/>
          </a:p>
          <a:p>
            <a:pPr marL="342900" indent="-342900" algn="l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questions to affirmative form</a:t>
            </a:r>
            <a:endParaRPr lang="en-US" sz="1350" dirty="0"/>
          </a:p>
          <a:p>
            <a:pPr marL="342900" indent="-342900" algn="l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commands to infinitives</a:t>
            </a:r>
            <a:endParaRPr lang="en-US" sz="1350" dirty="0"/>
          </a:p>
          <a:p>
            <a:pPr marL="342900" indent="-342900" algn="l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time and place references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25296" y="1872704"/>
            <a:ext cx="3693408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Conversions!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096005" y="2512665"/>
            <a:ext cx="29518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converting your own examples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520</Words>
  <Application>Microsoft Office PowerPoint</Application>
  <PresentationFormat>On-screen Show (16:9)</PresentationFormat>
  <Paragraphs>94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Ezekiel BFSBC</cp:lastModifiedBy>
  <cp:revision>3</cp:revision>
  <dcterms:created xsi:type="dcterms:W3CDTF">2025-12-18T04:58:05Z</dcterms:created>
  <dcterms:modified xsi:type="dcterms:W3CDTF">2025-12-18T05:03:45Z</dcterms:modified>
</cp:coreProperties>
</file>