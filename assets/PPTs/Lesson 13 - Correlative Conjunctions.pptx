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4" r:id="rId3"/>
    <p:sldId id="275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9DF29-994F-4016-A72F-FA035FF84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36878-561A-07F1-5BB5-3A8456C6B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FEED8-A0D0-F62F-B03B-047616EEC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EDB3F-549E-EE9E-C348-062FB16B1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A14A6-AD7C-46C4-B2BF-870AE88E5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58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377AD-E51D-4961-2357-4A3B492F5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4B6D4-D220-7E00-2043-97BF4CE72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4BFE5-51B0-8F76-9EA1-AB9627A72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A4987-FBD0-078F-42C7-92EA735AF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BC86E-FBB6-9711-A5D1-3540F44AF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93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4BC26-D83A-7B77-9027-71BF3942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3A666-9FDB-297A-5F20-5769C6D37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8E80C-732A-2A63-C2FC-42E575402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9D767-C239-35F9-EC13-B8A226C76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91574-FC30-138A-ED2A-FB692F5D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70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35034-AA35-99B9-FC59-34ADCEE4F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D7426-886E-3EC9-AABC-8EEE1D1CB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D36E6-D303-5EE5-25B8-C0144320B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6557E-618B-A959-B873-09FF14916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0AECC-F36F-1F1A-3977-CC87E6280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16510-4F28-CA06-D101-BAE71F2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643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2201-B5AE-163B-F61F-5C0F44874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96307-3E99-9FC1-32FB-ABA0DA62C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76FF9-A7B1-B65B-3D08-BE1B58753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6BDF89-81B9-49DE-9A84-D53D27D08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AB6D9A-BE20-6289-1768-22CD7CB5F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5200BB-3BA0-56F0-0C1C-40E34F140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F459F0-9FE4-0EA4-9E11-896B914EA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143783-3387-666B-BBFE-0AB2502A1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783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3C739-A682-0DF3-0417-776522A45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6E69B4-B217-F44A-AEB4-A7A1E8E8B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847F3B-A8D4-C3C3-AA08-D7EF016B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F91BC-6C82-B366-521F-A6D93887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62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E68CEF-ECCA-E4CF-960C-A827303B9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8E9057-F29F-B07D-7486-3B0A6BDC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EA31C-0AB0-C4A5-88D7-76E6B6BA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4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43E1-EE33-C85C-335D-D0C53222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CF8-15D0-D991-2636-358E89622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D545F-14EC-E670-91DA-D27C5B209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4593B-5A10-6FE0-804F-8806C96B9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F9B53-457D-BCA9-79F1-CFACE9387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99203-2DA0-6665-A713-BA3164569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88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C35A1-3F15-7C8E-9973-0C4BFEBFC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EEBA8B-6A12-443D-582F-1C1DE11E9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4B03E-829C-A89B-DEF4-956D8949E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59819-931A-3CC2-36BC-19012E8C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D8038-DA20-46C1-BE2B-704446EFB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0368A-BF1F-BB78-FFD0-8EF33DE99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33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D3315-5CDF-21DE-4236-389DED53A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9DB7E-E672-75B4-204C-951794C43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775F3-35BB-57DF-908A-6B7F5901E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78F3B-8B2B-9B71-4835-D04B5F2FB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FAE83-5B61-233C-A8C6-628772802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10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9EDAAC-FF64-C3A4-BD3D-F33EB230C9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78314C-869E-7A74-EDFC-272ABE107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98511-5020-12CE-7697-CD0FDB5BD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A7DE9-6E61-7342-2FE2-20C37C51D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69229-5968-F9F3-744A-AB29925F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88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41F230-F08F-88FB-9ED2-925D06F07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E0377-A45D-2469-26F5-C44A0755C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CB6F1-1915-2899-DE90-60A24026E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74D1E-8B0A-4CB3-BD48-0F9F737E7124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BA894-39C2-64DC-A6F4-085688495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D84B7-9EED-586C-0BB2-E5811B61A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4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4C1DC6-3E41-96A6-A7D6-EB4E0DAA8EA7}"/>
              </a:ext>
            </a:extLst>
          </p:cNvPr>
          <p:cNvSpPr txBox="1"/>
          <p:nvPr/>
        </p:nvSpPr>
        <p:spPr>
          <a:xfrm>
            <a:off x="690513" y="2589582"/>
            <a:ext cx="10810973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900" b="1" dirty="0">
                <a:ln w="57150">
                  <a:solidFill>
                    <a:schemeClr val="bg1"/>
                  </a:solidFill>
                  <a:prstDash val="solid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ENGLISH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47560C-F03A-851C-E4C0-4199A9A8B2B6}"/>
              </a:ext>
            </a:extLst>
          </p:cNvPr>
          <p:cNvSpPr txBox="1"/>
          <p:nvPr/>
        </p:nvSpPr>
        <p:spPr>
          <a:xfrm>
            <a:off x="690513" y="1488567"/>
            <a:ext cx="6058069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SPOKEN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F995EFD6-756A-C993-DF1B-95B7BEA9A049}"/>
              </a:ext>
            </a:extLst>
          </p:cNvPr>
          <p:cNvSpPr/>
          <p:nvPr/>
        </p:nvSpPr>
        <p:spPr>
          <a:xfrm>
            <a:off x="10058400" y="0"/>
            <a:ext cx="1585913" cy="2000249"/>
          </a:xfrm>
          <a:prstGeom prst="foldedCorner">
            <a:avLst>
              <a:gd name="adj" fmla="val 3071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 dirty="0">
                <a:solidFill>
                  <a:schemeClr val="tx1"/>
                </a:solidFill>
                <a:latin typeface="Aptos Narrow" panose="020B000402020202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03117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2093141" y="1691644"/>
            <a:ext cx="858921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>
                    <a:lumMod val="75000"/>
                  </a:schemeClr>
                </a:solidFill>
                <a:latin typeface="Montserrat Bold" panose="00000800000000000000" pitchFamily="2" charset="0"/>
              </a:rPr>
              <a:t>CORRELATIVE</a:t>
            </a:r>
            <a:endParaRPr lang="en-IN" sz="8800" dirty="0">
              <a:solidFill>
                <a:schemeClr val="accent2">
                  <a:lumMod val="75000"/>
                </a:schemeClr>
              </a:solidFill>
              <a:latin typeface="Montserrat Bold" panose="000008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CBFF0D-1761-D260-A539-182D5073273E}"/>
              </a:ext>
            </a:extLst>
          </p:cNvPr>
          <p:cNvSpPr txBox="1"/>
          <p:nvPr/>
        </p:nvSpPr>
        <p:spPr>
          <a:xfrm>
            <a:off x="3569734" y="2560905"/>
            <a:ext cx="437126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  <a:latin typeface="Luthon Southard Script" panose="02000600000000000000" pitchFamily="50" charset="0"/>
              </a:rPr>
              <a:t>Conjunctions</a:t>
            </a:r>
            <a:endParaRPr lang="en-IN" sz="8800" dirty="0">
              <a:solidFill>
                <a:schemeClr val="bg1"/>
              </a:solidFill>
              <a:latin typeface="Luthon Southard Script" panose="02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986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4822956" y="577140"/>
            <a:ext cx="68435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Montserrat Bold" panose="00000800000000000000" pitchFamily="2" charset="0"/>
              </a:rPr>
              <a:t>CORRELATIVE CONJUNCTIONS</a:t>
            </a:r>
            <a:endParaRPr lang="en-IN" sz="3200" dirty="0">
              <a:solidFill>
                <a:schemeClr val="accent2">
                  <a:lumMod val="75000"/>
                </a:schemeClr>
              </a:solidFill>
              <a:latin typeface="Montserrat Bold" panose="000008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D859E-921E-3CE2-4FF9-9CD8384C3A05}"/>
              </a:ext>
            </a:extLst>
          </p:cNvPr>
          <p:cNvSpPr txBox="1"/>
          <p:nvPr/>
        </p:nvSpPr>
        <p:spPr>
          <a:xfrm>
            <a:off x="803299" y="1652332"/>
            <a:ext cx="3879587" cy="45438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 algn="r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accent2"/>
                </a:solidFill>
                <a:latin typeface="Montserrat" panose="00000500000000000000" pitchFamily="2" charset="0"/>
              </a:rPr>
              <a:t>Both...and</a:t>
            </a:r>
          </a:p>
          <a:p>
            <a:pPr marL="514350" indent="-514350" algn="r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accent2"/>
                </a:solidFill>
                <a:latin typeface="Montserrat" panose="00000500000000000000" pitchFamily="2" charset="0"/>
              </a:rPr>
              <a:t>Either...or</a:t>
            </a:r>
          </a:p>
          <a:p>
            <a:pPr marL="514350" indent="-514350" algn="r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accent2"/>
                </a:solidFill>
                <a:latin typeface="Montserrat" panose="00000500000000000000" pitchFamily="2" charset="0"/>
              </a:rPr>
              <a:t>Neither...nor</a:t>
            </a:r>
          </a:p>
          <a:p>
            <a:pPr marL="514350" indent="-514350" algn="r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accent2"/>
                </a:solidFill>
                <a:latin typeface="Montserrat" panose="00000500000000000000" pitchFamily="2" charset="0"/>
              </a:rPr>
              <a:t>Not only...but also</a:t>
            </a:r>
          </a:p>
          <a:p>
            <a:pPr marL="514350" indent="-514350" algn="r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accent2"/>
                </a:solidFill>
                <a:latin typeface="Montserrat" panose="00000500000000000000" pitchFamily="2" charset="0"/>
              </a:rPr>
              <a:t>Whether...or</a:t>
            </a:r>
          </a:p>
          <a:p>
            <a:pPr marL="514350" indent="-514350" algn="r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accent2"/>
                </a:solidFill>
                <a:latin typeface="Montserrat" panose="00000500000000000000" pitchFamily="2" charset="0"/>
              </a:rPr>
              <a:t>As...as</a:t>
            </a:r>
          </a:p>
          <a:p>
            <a:pPr marL="514350" indent="-514350" algn="r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accent2"/>
                </a:solidFill>
                <a:latin typeface="Montserrat" panose="00000500000000000000" pitchFamily="2" charset="0"/>
              </a:rPr>
              <a:t>So...as</a:t>
            </a:r>
            <a:endParaRPr lang="en-IN" sz="2800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C3CCF7-BF18-5044-EC00-D23D953B8F52}"/>
              </a:ext>
            </a:extLst>
          </p:cNvPr>
          <p:cNvSpPr txBox="1"/>
          <p:nvPr/>
        </p:nvSpPr>
        <p:spPr>
          <a:xfrm>
            <a:off x="4822956" y="1963428"/>
            <a:ext cx="69381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</a:rPr>
              <a:t> Indicates that two elements are included or considered together.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A68D01-97FF-E7CF-9A16-310762FAA279}"/>
              </a:ext>
            </a:extLst>
          </p:cNvPr>
          <p:cNvSpPr txBox="1"/>
          <p:nvPr/>
        </p:nvSpPr>
        <p:spPr>
          <a:xfrm>
            <a:off x="4822956" y="2632675"/>
            <a:ext cx="47051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</a:rPr>
              <a:t>Presents a choice between two alternatives.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0FE646-A7B2-54AE-909D-1F6DAB54C29E}"/>
              </a:ext>
            </a:extLst>
          </p:cNvPr>
          <p:cNvSpPr txBox="1"/>
          <p:nvPr/>
        </p:nvSpPr>
        <p:spPr>
          <a:xfrm>
            <a:off x="4822956" y="3205319"/>
            <a:ext cx="61013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</a:rPr>
              <a:t>Indicates that both alternatives are not true or applicable.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07CDC6-E7DC-F0F7-F297-BE54F94F418B}"/>
              </a:ext>
            </a:extLst>
          </p:cNvPr>
          <p:cNvSpPr txBox="1"/>
          <p:nvPr/>
        </p:nvSpPr>
        <p:spPr>
          <a:xfrm>
            <a:off x="4822956" y="3797723"/>
            <a:ext cx="46426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</a:rPr>
              <a:t>Emphasizes two related qualities or actions.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8EBBD6-04A4-EDF9-D459-A137E65DE1B1}"/>
              </a:ext>
            </a:extLst>
          </p:cNvPr>
          <p:cNvSpPr txBox="1"/>
          <p:nvPr/>
        </p:nvSpPr>
        <p:spPr>
          <a:xfrm>
            <a:off x="4822956" y="4485227"/>
            <a:ext cx="47035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</a:rPr>
              <a:t>Presents two possible options or conditions.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BC363F-6F35-6E77-13A6-102F597FFFCB}"/>
              </a:ext>
            </a:extLst>
          </p:cNvPr>
          <p:cNvSpPr txBox="1"/>
          <p:nvPr/>
        </p:nvSpPr>
        <p:spPr>
          <a:xfrm>
            <a:off x="4822956" y="5057871"/>
            <a:ext cx="3595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</a:rPr>
              <a:t>Indicates equality or comparison.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5F19F4-738F-D69D-2CEE-7952146F90CA}"/>
              </a:ext>
            </a:extLst>
          </p:cNvPr>
          <p:cNvSpPr txBox="1"/>
          <p:nvPr/>
        </p:nvSpPr>
        <p:spPr>
          <a:xfrm>
            <a:off x="4822956" y="5765135"/>
            <a:ext cx="5208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</a:rPr>
              <a:t>Indicates comparison, often with a lesser degree.</a:t>
            </a:r>
          </a:p>
        </p:txBody>
      </p:sp>
    </p:spTree>
    <p:extLst>
      <p:ext uri="{BB962C8B-B14F-4D97-AF65-F5344CB8AC3E}">
        <p14:creationId xmlns:p14="http://schemas.microsoft.com/office/powerpoint/2010/main" val="1335012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F00CE8-B3DD-08EC-0BC3-F3AB57BED9C3}"/>
              </a:ext>
            </a:extLst>
          </p:cNvPr>
          <p:cNvSpPr txBox="1"/>
          <p:nvPr/>
        </p:nvSpPr>
        <p:spPr>
          <a:xfrm>
            <a:off x="218139" y="2892827"/>
            <a:ext cx="11277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“Just Because </a:t>
            </a: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I am calm, It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doesn’t mean </a:t>
            </a: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that I am not angry”</a:t>
            </a:r>
            <a:endParaRPr lang="en-IN" sz="2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FFF74E-4905-6354-5A8D-5C7732F52206}"/>
              </a:ext>
            </a:extLst>
          </p:cNvPr>
          <p:cNvSpPr txBox="1"/>
          <p:nvPr/>
        </p:nvSpPr>
        <p:spPr>
          <a:xfrm>
            <a:off x="218139" y="3505216"/>
            <a:ext cx="103781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"Just because </a:t>
            </a: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he's successful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doesn't mean </a:t>
            </a: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he's perfect."</a:t>
            </a:r>
            <a:endParaRPr lang="en-IN" sz="2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C98EB-C675-B2E3-D1C6-8E5049F9A214}"/>
              </a:ext>
            </a:extLst>
          </p:cNvPr>
          <p:cNvSpPr txBox="1"/>
          <p:nvPr/>
        </p:nvSpPr>
        <p:spPr>
          <a:xfrm>
            <a:off x="218139" y="4117605"/>
            <a:ext cx="12101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"Just because </a:t>
            </a: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it's raining outside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 doesn't mean </a:t>
            </a: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we can't have fun."</a:t>
            </a:r>
            <a:endParaRPr lang="en-IN" sz="2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5F1292-646E-C5EF-BEBF-31BD077D1EF9}"/>
              </a:ext>
            </a:extLst>
          </p:cNvPr>
          <p:cNvSpPr txBox="1"/>
          <p:nvPr/>
        </p:nvSpPr>
        <p:spPr>
          <a:xfrm>
            <a:off x="218139" y="4729994"/>
            <a:ext cx="114185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"Just because </a:t>
            </a: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he has a lot of money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doesn't mean </a:t>
            </a: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he's happy."</a:t>
            </a:r>
            <a:endParaRPr lang="en-IN" sz="2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5A2406-7D67-A055-2B5F-4A4D83B2942C}"/>
              </a:ext>
            </a:extLst>
          </p:cNvPr>
          <p:cNvSpPr txBox="1"/>
          <p:nvPr/>
        </p:nvSpPr>
        <p:spPr>
          <a:xfrm>
            <a:off x="218139" y="1983964"/>
            <a:ext cx="30524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2"/>
                </a:solidFill>
                <a:latin typeface="Montserrat Bold" panose="00000800000000000000" pitchFamily="2" charset="0"/>
              </a:rPr>
              <a:t>Examples</a:t>
            </a:r>
            <a:endParaRPr lang="en-IN" sz="4400" dirty="0">
              <a:solidFill>
                <a:schemeClr val="accent2"/>
              </a:solidFill>
              <a:latin typeface="Montserrat Bold" panose="000008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6106270" y="591385"/>
            <a:ext cx="4076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Montserrat Bold" panose="00000800000000000000" pitchFamily="2" charset="0"/>
              </a:rPr>
              <a:t>Just Because</a:t>
            </a:r>
            <a:endParaRPr lang="en-IN" sz="4000" dirty="0">
              <a:solidFill>
                <a:schemeClr val="accent2">
                  <a:lumMod val="75000"/>
                </a:schemeClr>
              </a:solidFill>
              <a:latin typeface="Montserrat Bold" panose="000008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CBFF0D-1761-D260-A539-182D5073273E}"/>
              </a:ext>
            </a:extLst>
          </p:cNvPr>
          <p:cNvSpPr txBox="1"/>
          <p:nvPr/>
        </p:nvSpPr>
        <p:spPr>
          <a:xfrm>
            <a:off x="7749831" y="1158511"/>
            <a:ext cx="2433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Luthon Southard Script" panose="02000600000000000000" pitchFamily="50" charset="0"/>
              </a:rPr>
              <a:t>It doesn't mean</a:t>
            </a:r>
            <a:endParaRPr lang="en-IN" sz="4000" dirty="0">
              <a:solidFill>
                <a:schemeClr val="bg1"/>
              </a:solidFill>
              <a:latin typeface="Luthon Southard Script" panose="02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379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F00CE8-B3DD-08EC-0BC3-F3AB57BED9C3}"/>
              </a:ext>
            </a:extLst>
          </p:cNvPr>
          <p:cNvSpPr txBox="1"/>
          <p:nvPr/>
        </p:nvSpPr>
        <p:spPr>
          <a:xfrm>
            <a:off x="1312650" y="2640945"/>
            <a:ext cx="87126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"Neither </a:t>
            </a: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the red shirt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nor </a:t>
            </a: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the blue shirt fits me."</a:t>
            </a:r>
            <a:endParaRPr lang="en-IN" sz="2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FFF74E-4905-6354-5A8D-5C7732F52206}"/>
              </a:ext>
            </a:extLst>
          </p:cNvPr>
          <p:cNvSpPr txBox="1"/>
          <p:nvPr/>
        </p:nvSpPr>
        <p:spPr>
          <a:xfrm>
            <a:off x="1312650" y="3253334"/>
            <a:ext cx="71577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"She speaks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neither </a:t>
            </a: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English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 nor </a:t>
            </a: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Hindi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."</a:t>
            </a:r>
            <a:endParaRPr lang="en-IN" sz="2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C98EB-C675-B2E3-D1C6-8E5049F9A214}"/>
              </a:ext>
            </a:extLst>
          </p:cNvPr>
          <p:cNvSpPr txBox="1"/>
          <p:nvPr/>
        </p:nvSpPr>
        <p:spPr>
          <a:xfrm>
            <a:off x="1312650" y="3865723"/>
            <a:ext cx="84898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"He is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neither </a:t>
            </a: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happy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 nor </a:t>
            </a: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satisfied with his job."</a:t>
            </a:r>
            <a:endParaRPr lang="en-IN" sz="2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5F1292-646E-C5EF-BEBF-31BD077D1EF9}"/>
              </a:ext>
            </a:extLst>
          </p:cNvPr>
          <p:cNvSpPr txBox="1"/>
          <p:nvPr/>
        </p:nvSpPr>
        <p:spPr>
          <a:xfrm>
            <a:off x="1312650" y="4478112"/>
            <a:ext cx="8832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"Neither </a:t>
            </a: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Priya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 nor </a:t>
            </a: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Gita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wants to go to the party."</a:t>
            </a:r>
            <a:endParaRPr lang="en-IN" sz="2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5A2406-7D67-A055-2B5F-4A4D83B2942C}"/>
              </a:ext>
            </a:extLst>
          </p:cNvPr>
          <p:cNvSpPr txBox="1"/>
          <p:nvPr/>
        </p:nvSpPr>
        <p:spPr>
          <a:xfrm>
            <a:off x="1312650" y="1418893"/>
            <a:ext cx="30524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2"/>
                </a:solidFill>
                <a:latin typeface="Montserrat Bold" panose="00000800000000000000" pitchFamily="2" charset="0"/>
              </a:rPr>
              <a:t>Examples</a:t>
            </a:r>
            <a:endParaRPr lang="en-IN" sz="4400" dirty="0">
              <a:solidFill>
                <a:schemeClr val="accent2"/>
              </a:solidFill>
              <a:latin typeface="Montserrat Bold" panose="000008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26E240-F98C-E540-C244-5123F70C33FA}"/>
              </a:ext>
            </a:extLst>
          </p:cNvPr>
          <p:cNvSpPr txBox="1"/>
          <p:nvPr/>
        </p:nvSpPr>
        <p:spPr>
          <a:xfrm>
            <a:off x="7200481" y="587896"/>
            <a:ext cx="26019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2">
                    <a:lumMod val="75000"/>
                  </a:schemeClr>
                </a:solidFill>
                <a:latin typeface="Montserrat Bold" panose="00000800000000000000" pitchFamily="2" charset="0"/>
              </a:rPr>
              <a:t>Neither</a:t>
            </a:r>
            <a:endParaRPr lang="en-IN" sz="4800" dirty="0">
              <a:solidFill>
                <a:schemeClr val="accent2">
                  <a:lumMod val="75000"/>
                </a:schemeClr>
              </a:solidFill>
              <a:latin typeface="Montserrat Bold" panose="000008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E22096-4D86-4D27-78D9-6C6056112361}"/>
              </a:ext>
            </a:extLst>
          </p:cNvPr>
          <p:cNvSpPr txBox="1"/>
          <p:nvPr/>
        </p:nvSpPr>
        <p:spPr>
          <a:xfrm>
            <a:off x="8349553" y="1244869"/>
            <a:ext cx="9884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Luthon Southard Script" panose="02000600000000000000" pitchFamily="50" charset="0"/>
              </a:rPr>
              <a:t>Nor</a:t>
            </a:r>
            <a:endParaRPr lang="en-IN" sz="4800" dirty="0">
              <a:solidFill>
                <a:schemeClr val="bg1"/>
              </a:solidFill>
              <a:latin typeface="Luthon Southard Script" panose="02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66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F00CE8-B3DD-08EC-0BC3-F3AB57BED9C3}"/>
              </a:ext>
            </a:extLst>
          </p:cNvPr>
          <p:cNvSpPr txBox="1"/>
          <p:nvPr/>
        </p:nvSpPr>
        <p:spPr>
          <a:xfrm>
            <a:off x="606068" y="2832500"/>
            <a:ext cx="776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"You can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either 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buy the blue shirt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or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the red one."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FFF74E-4905-6354-5A8D-5C7732F52206}"/>
              </a:ext>
            </a:extLst>
          </p:cNvPr>
          <p:cNvSpPr txBox="1"/>
          <p:nvPr/>
        </p:nvSpPr>
        <p:spPr>
          <a:xfrm>
            <a:off x="606068" y="3444889"/>
            <a:ext cx="105352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“You can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either 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join us for dinner now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or 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meet us later at the party."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C98EB-C675-B2E3-D1C6-8E5049F9A214}"/>
              </a:ext>
            </a:extLst>
          </p:cNvPr>
          <p:cNvSpPr txBox="1"/>
          <p:nvPr/>
        </p:nvSpPr>
        <p:spPr>
          <a:xfrm>
            <a:off x="606068" y="4057278"/>
            <a:ext cx="11080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"She must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 either 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apologize for her behavior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or 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face the consequences."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5F1292-646E-C5EF-BEBF-31BD077D1EF9}"/>
              </a:ext>
            </a:extLst>
          </p:cNvPr>
          <p:cNvSpPr txBox="1"/>
          <p:nvPr/>
        </p:nvSpPr>
        <p:spPr>
          <a:xfrm>
            <a:off x="606068" y="4669667"/>
            <a:ext cx="9299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"You can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either 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study for the exam tonight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or 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take a break.”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5A2406-7D67-A055-2B5F-4A4D83B2942C}"/>
              </a:ext>
            </a:extLst>
          </p:cNvPr>
          <p:cNvSpPr txBox="1"/>
          <p:nvPr/>
        </p:nvSpPr>
        <p:spPr>
          <a:xfrm>
            <a:off x="606068" y="1912335"/>
            <a:ext cx="30524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2"/>
                </a:solidFill>
                <a:latin typeface="Montserrat Bold" panose="00000800000000000000" pitchFamily="2" charset="0"/>
              </a:rPr>
              <a:t>Examples</a:t>
            </a:r>
            <a:endParaRPr lang="en-IN" sz="4400" dirty="0">
              <a:solidFill>
                <a:schemeClr val="accent2"/>
              </a:solidFill>
              <a:latin typeface="Montserrat Bold" panose="000008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38CFBA-96EE-B24E-D638-F025A16D5DF1}"/>
              </a:ext>
            </a:extLst>
          </p:cNvPr>
          <p:cNvSpPr txBox="1"/>
          <p:nvPr/>
        </p:nvSpPr>
        <p:spPr>
          <a:xfrm>
            <a:off x="7062111" y="468851"/>
            <a:ext cx="21307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2">
                    <a:lumMod val="75000"/>
                  </a:schemeClr>
                </a:solidFill>
                <a:latin typeface="Montserrat Bold" panose="00000800000000000000" pitchFamily="2" charset="0"/>
              </a:rPr>
              <a:t>Either</a:t>
            </a:r>
            <a:endParaRPr lang="en-IN" sz="4800" dirty="0">
              <a:solidFill>
                <a:schemeClr val="accent2">
                  <a:lumMod val="75000"/>
                </a:schemeClr>
              </a:solidFill>
              <a:latin typeface="Montserrat Bold" panose="000008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DF4CBA-8668-2153-FA53-E868027ACB5A}"/>
              </a:ext>
            </a:extLst>
          </p:cNvPr>
          <p:cNvSpPr txBox="1"/>
          <p:nvPr/>
        </p:nvSpPr>
        <p:spPr>
          <a:xfrm>
            <a:off x="8374541" y="1125873"/>
            <a:ext cx="7024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Luthon Southard Script" panose="02000600000000000000" pitchFamily="50" charset="0"/>
              </a:rPr>
              <a:t>Or</a:t>
            </a:r>
            <a:endParaRPr lang="en-IN" sz="4800" dirty="0">
              <a:solidFill>
                <a:schemeClr val="bg1"/>
              </a:solidFill>
              <a:latin typeface="Luthon Southard Script" panose="02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513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F00CE8-B3DD-08EC-0BC3-F3AB57BED9C3}"/>
              </a:ext>
            </a:extLst>
          </p:cNvPr>
          <p:cNvSpPr txBox="1"/>
          <p:nvPr/>
        </p:nvSpPr>
        <p:spPr>
          <a:xfrm>
            <a:off x="703049" y="2943336"/>
            <a:ext cx="69926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“She is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not only 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intelligent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but also 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creative."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FFF74E-4905-6354-5A8D-5C7732F52206}"/>
              </a:ext>
            </a:extLst>
          </p:cNvPr>
          <p:cNvSpPr txBox="1"/>
          <p:nvPr/>
        </p:nvSpPr>
        <p:spPr>
          <a:xfrm>
            <a:off x="703049" y="3555725"/>
            <a:ext cx="8311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"The book is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not only 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informative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but also 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engaging."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C98EB-C675-B2E3-D1C6-8E5049F9A214}"/>
              </a:ext>
            </a:extLst>
          </p:cNvPr>
          <p:cNvSpPr txBox="1"/>
          <p:nvPr/>
        </p:nvSpPr>
        <p:spPr>
          <a:xfrm>
            <a:off x="703049" y="4168114"/>
            <a:ext cx="10294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"She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not only 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speaks Tamil fluently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but also 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understands English."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5F1292-646E-C5EF-BEBF-31BD077D1EF9}"/>
              </a:ext>
            </a:extLst>
          </p:cNvPr>
          <p:cNvSpPr txBox="1"/>
          <p:nvPr/>
        </p:nvSpPr>
        <p:spPr>
          <a:xfrm>
            <a:off x="703049" y="4780503"/>
            <a:ext cx="10549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"The new software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not only 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saves time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but also 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improves accuracy."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5A2406-7D67-A055-2B5F-4A4D83B2942C}"/>
              </a:ext>
            </a:extLst>
          </p:cNvPr>
          <p:cNvSpPr txBox="1"/>
          <p:nvPr/>
        </p:nvSpPr>
        <p:spPr>
          <a:xfrm>
            <a:off x="592213" y="1967753"/>
            <a:ext cx="30524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2"/>
                </a:solidFill>
                <a:latin typeface="Montserrat Bold" panose="00000800000000000000" pitchFamily="2" charset="0"/>
              </a:rPr>
              <a:t>Examples</a:t>
            </a:r>
            <a:endParaRPr lang="en-IN" sz="4400" dirty="0">
              <a:solidFill>
                <a:schemeClr val="accent2"/>
              </a:solidFill>
              <a:latin typeface="Montserrat Bold" panose="000008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12756E-CEF1-4B6A-815F-FD0167E901DC}"/>
              </a:ext>
            </a:extLst>
          </p:cNvPr>
          <p:cNvSpPr txBox="1"/>
          <p:nvPr/>
        </p:nvSpPr>
        <p:spPr>
          <a:xfrm>
            <a:off x="7093869" y="824370"/>
            <a:ext cx="26821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Montserrat Bold" panose="00000800000000000000" pitchFamily="2" charset="0"/>
              </a:rPr>
              <a:t>Not only</a:t>
            </a:r>
            <a:endParaRPr lang="en-IN" sz="4400" dirty="0">
              <a:solidFill>
                <a:schemeClr val="accent2">
                  <a:lumMod val="75000"/>
                </a:schemeClr>
              </a:solidFill>
              <a:latin typeface="Montserrat Bold" panose="000008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708BBF-433A-F62F-DB31-4538386DE86D}"/>
              </a:ext>
            </a:extLst>
          </p:cNvPr>
          <p:cNvSpPr txBox="1"/>
          <p:nvPr/>
        </p:nvSpPr>
        <p:spPr>
          <a:xfrm>
            <a:off x="8257072" y="1499132"/>
            <a:ext cx="151894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Luthon Southard Script" panose="02000600000000000000" pitchFamily="50" charset="0"/>
              </a:rPr>
              <a:t>But also</a:t>
            </a:r>
            <a:endParaRPr lang="en-IN" sz="4400" dirty="0">
              <a:solidFill>
                <a:schemeClr val="bg1"/>
              </a:solidFill>
              <a:latin typeface="Luthon Southard Script" panose="02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772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F00CE8-B3DD-08EC-0BC3-F3AB57BED9C3}"/>
              </a:ext>
            </a:extLst>
          </p:cNvPr>
          <p:cNvSpPr txBox="1"/>
          <p:nvPr/>
        </p:nvSpPr>
        <p:spPr>
          <a:xfrm>
            <a:off x="703049" y="2943336"/>
            <a:ext cx="71208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"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Both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John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and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Mary attended the meeting."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FFF74E-4905-6354-5A8D-5C7732F52206}"/>
              </a:ext>
            </a:extLst>
          </p:cNvPr>
          <p:cNvSpPr txBox="1"/>
          <p:nvPr/>
        </p:nvSpPr>
        <p:spPr>
          <a:xfrm>
            <a:off x="703049" y="3555725"/>
            <a:ext cx="66111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"She is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both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intelligent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and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hardworking."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C98EB-C675-B2E3-D1C6-8E5049F9A214}"/>
              </a:ext>
            </a:extLst>
          </p:cNvPr>
          <p:cNvSpPr txBox="1"/>
          <p:nvPr/>
        </p:nvSpPr>
        <p:spPr>
          <a:xfrm>
            <a:off x="703049" y="4168114"/>
            <a:ext cx="8949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"The movie is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both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entertaining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and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thought-provoking."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5A2406-7D67-A055-2B5F-4A4D83B2942C}"/>
              </a:ext>
            </a:extLst>
          </p:cNvPr>
          <p:cNvSpPr txBox="1"/>
          <p:nvPr/>
        </p:nvSpPr>
        <p:spPr>
          <a:xfrm>
            <a:off x="703049" y="2008257"/>
            <a:ext cx="30524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2"/>
                </a:solidFill>
                <a:latin typeface="Montserrat Bold" panose="00000800000000000000" pitchFamily="2" charset="0"/>
              </a:rPr>
              <a:t>Examples</a:t>
            </a:r>
            <a:endParaRPr lang="en-IN" sz="4400" dirty="0">
              <a:solidFill>
                <a:schemeClr val="accent2"/>
              </a:solidFill>
              <a:latin typeface="Montserrat Bold" panose="000008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DAADDA-33DE-7864-D21C-3517A3689A0C}"/>
              </a:ext>
            </a:extLst>
          </p:cNvPr>
          <p:cNvSpPr txBox="1"/>
          <p:nvPr/>
        </p:nvSpPr>
        <p:spPr>
          <a:xfrm>
            <a:off x="7012190" y="838015"/>
            <a:ext cx="19479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accent2">
                    <a:lumMod val="75000"/>
                  </a:schemeClr>
                </a:solidFill>
                <a:latin typeface="Montserrat Bold" panose="00000800000000000000" pitchFamily="2" charset="0"/>
              </a:rPr>
              <a:t>Both</a:t>
            </a:r>
            <a:endParaRPr lang="en-IN" sz="5400" dirty="0">
              <a:solidFill>
                <a:schemeClr val="accent2">
                  <a:lumMod val="75000"/>
                </a:schemeClr>
              </a:solidFill>
              <a:latin typeface="Montserrat Bold" panose="000008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EEB033-C982-0C93-C414-155A9B010409}"/>
              </a:ext>
            </a:extLst>
          </p:cNvPr>
          <p:cNvSpPr txBox="1"/>
          <p:nvPr/>
        </p:nvSpPr>
        <p:spPr>
          <a:xfrm>
            <a:off x="8066260" y="1299680"/>
            <a:ext cx="8938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Luthon Southard Script" panose="02000600000000000000" pitchFamily="50" charset="0"/>
              </a:rPr>
              <a:t>and</a:t>
            </a:r>
            <a:endParaRPr lang="en-IN" sz="5400" dirty="0">
              <a:solidFill>
                <a:schemeClr val="bg1"/>
              </a:solidFill>
              <a:latin typeface="Luthon Southard Script" panose="02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037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F00CE8-B3DD-08EC-0BC3-F3AB57BED9C3}"/>
              </a:ext>
            </a:extLst>
          </p:cNvPr>
          <p:cNvSpPr txBox="1"/>
          <p:nvPr/>
        </p:nvSpPr>
        <p:spPr>
          <a:xfrm>
            <a:off x="703049" y="2943336"/>
            <a:ext cx="778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"I'm going to the party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whether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it rains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or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snows."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FFF74E-4905-6354-5A8D-5C7732F52206}"/>
              </a:ext>
            </a:extLst>
          </p:cNvPr>
          <p:cNvSpPr txBox="1"/>
          <p:nvPr/>
        </p:nvSpPr>
        <p:spPr>
          <a:xfrm>
            <a:off x="703049" y="3555725"/>
            <a:ext cx="9054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"We will decide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whether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to go on vacation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or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stay home."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C98EB-C675-B2E3-D1C6-8E5049F9A214}"/>
              </a:ext>
            </a:extLst>
          </p:cNvPr>
          <p:cNvSpPr txBox="1"/>
          <p:nvPr/>
        </p:nvSpPr>
        <p:spPr>
          <a:xfrm>
            <a:off x="703049" y="4168114"/>
            <a:ext cx="10586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"He hasn't decided yet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whether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to accept the job offer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or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decline it."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5A2406-7D67-A055-2B5F-4A4D83B2942C}"/>
              </a:ext>
            </a:extLst>
          </p:cNvPr>
          <p:cNvSpPr txBox="1"/>
          <p:nvPr/>
        </p:nvSpPr>
        <p:spPr>
          <a:xfrm>
            <a:off x="592213" y="1967753"/>
            <a:ext cx="30524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2"/>
                </a:solidFill>
                <a:latin typeface="Montserrat Bold" panose="00000800000000000000" pitchFamily="2" charset="0"/>
              </a:rPr>
              <a:t>Examples</a:t>
            </a:r>
            <a:endParaRPr lang="en-IN" sz="4400" dirty="0">
              <a:solidFill>
                <a:schemeClr val="accent2"/>
              </a:solidFill>
              <a:latin typeface="Montserrat Bold" panose="000008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C5FAED-4E6A-2B30-66C9-FF7D2A2C0E5D}"/>
              </a:ext>
            </a:extLst>
          </p:cNvPr>
          <p:cNvSpPr txBox="1"/>
          <p:nvPr/>
        </p:nvSpPr>
        <p:spPr>
          <a:xfrm>
            <a:off x="6776024" y="705487"/>
            <a:ext cx="28200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Montserrat Bold" panose="00000800000000000000" pitchFamily="2" charset="0"/>
              </a:rPr>
              <a:t>Whether</a:t>
            </a:r>
            <a:endParaRPr lang="en-IN" sz="4400" dirty="0">
              <a:solidFill>
                <a:schemeClr val="accent2">
                  <a:lumMod val="75000"/>
                </a:schemeClr>
              </a:solidFill>
              <a:latin typeface="Montserrat Bold" panose="000008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106CD9-9C90-CAC3-9992-9C6F07782241}"/>
              </a:ext>
            </a:extLst>
          </p:cNvPr>
          <p:cNvSpPr txBox="1"/>
          <p:nvPr/>
        </p:nvSpPr>
        <p:spPr>
          <a:xfrm>
            <a:off x="7995795" y="1361165"/>
            <a:ext cx="65755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Luthon Southard Script" panose="02000600000000000000" pitchFamily="50" charset="0"/>
              </a:rPr>
              <a:t>Or</a:t>
            </a:r>
            <a:endParaRPr lang="en-IN" sz="4400" dirty="0">
              <a:solidFill>
                <a:schemeClr val="bg1"/>
              </a:solidFill>
              <a:latin typeface="Luthon Southard Script" panose="02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188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F00CE8-B3DD-08EC-0BC3-F3AB57BED9C3}"/>
              </a:ext>
            </a:extLst>
          </p:cNvPr>
          <p:cNvSpPr txBox="1"/>
          <p:nvPr/>
        </p:nvSpPr>
        <p:spPr>
          <a:xfrm>
            <a:off x="1229522" y="3234282"/>
            <a:ext cx="4600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"She is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as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tall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as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her brother."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FFF74E-4905-6354-5A8D-5C7732F52206}"/>
              </a:ext>
            </a:extLst>
          </p:cNvPr>
          <p:cNvSpPr txBox="1"/>
          <p:nvPr/>
        </p:nvSpPr>
        <p:spPr>
          <a:xfrm>
            <a:off x="1229522" y="3846671"/>
            <a:ext cx="6454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"The book is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as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interesting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as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the movie."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C98EB-C675-B2E3-D1C6-8E5049F9A214}"/>
              </a:ext>
            </a:extLst>
          </p:cNvPr>
          <p:cNvSpPr txBox="1"/>
          <p:nvPr/>
        </p:nvSpPr>
        <p:spPr>
          <a:xfrm>
            <a:off x="1229522" y="4459060"/>
            <a:ext cx="5253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"He can run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as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fast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as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a cheetah."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5A2406-7D67-A055-2B5F-4A4D83B2942C}"/>
              </a:ext>
            </a:extLst>
          </p:cNvPr>
          <p:cNvSpPr txBox="1"/>
          <p:nvPr/>
        </p:nvSpPr>
        <p:spPr>
          <a:xfrm>
            <a:off x="1229522" y="2014219"/>
            <a:ext cx="30524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2"/>
                </a:solidFill>
                <a:latin typeface="Montserrat Bold" panose="00000800000000000000" pitchFamily="2" charset="0"/>
              </a:rPr>
              <a:t>Examples</a:t>
            </a:r>
            <a:endParaRPr lang="en-IN" sz="4400" dirty="0">
              <a:solidFill>
                <a:schemeClr val="accent2"/>
              </a:solidFill>
              <a:latin typeface="Montserrat Bold" panose="000008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B356A0-2502-04EC-FA7E-4AF938EDD0A1}"/>
              </a:ext>
            </a:extLst>
          </p:cNvPr>
          <p:cNvSpPr txBox="1"/>
          <p:nvPr/>
        </p:nvSpPr>
        <p:spPr>
          <a:xfrm>
            <a:off x="7644273" y="747778"/>
            <a:ext cx="164820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>
                    <a:lumMod val="75000"/>
                  </a:schemeClr>
                </a:solidFill>
                <a:latin typeface="Montserrat Bold" panose="00000800000000000000" pitchFamily="2" charset="0"/>
              </a:rPr>
              <a:t>As</a:t>
            </a:r>
            <a:endParaRPr lang="en-IN" sz="8800" dirty="0">
              <a:solidFill>
                <a:schemeClr val="accent2">
                  <a:lumMod val="75000"/>
                </a:schemeClr>
              </a:solidFill>
              <a:latin typeface="Montserrat Bold" panose="000008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2E2B0E-0B73-67CF-46E4-167F43E58472}"/>
              </a:ext>
            </a:extLst>
          </p:cNvPr>
          <p:cNvSpPr txBox="1"/>
          <p:nvPr/>
        </p:nvSpPr>
        <p:spPr>
          <a:xfrm>
            <a:off x="8871532" y="1290944"/>
            <a:ext cx="84189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  <a:latin typeface="Luthon Southard Script" panose="02000600000000000000" pitchFamily="50" charset="0"/>
              </a:rPr>
              <a:t>as</a:t>
            </a:r>
            <a:endParaRPr lang="en-IN" sz="8800" dirty="0">
              <a:solidFill>
                <a:schemeClr val="bg1"/>
              </a:solidFill>
              <a:latin typeface="Luthon Southard Script" panose="02000600000000000000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01AF8E-CF83-9C3D-BFDE-FBC2243305E8}"/>
              </a:ext>
            </a:extLst>
          </p:cNvPr>
          <p:cNvSpPr txBox="1"/>
          <p:nvPr/>
        </p:nvSpPr>
        <p:spPr>
          <a:xfrm>
            <a:off x="3904535" y="5013242"/>
            <a:ext cx="4530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</a:rPr>
              <a:t>(It is used mostly for an equal degree)</a:t>
            </a:r>
            <a:endParaRPr lang="en-IN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479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F00CE8-B3DD-08EC-0BC3-F3AB57BED9C3}"/>
              </a:ext>
            </a:extLst>
          </p:cNvPr>
          <p:cNvSpPr txBox="1"/>
          <p:nvPr/>
        </p:nvSpPr>
        <p:spPr>
          <a:xfrm>
            <a:off x="1201812" y="2971045"/>
            <a:ext cx="47564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"He is not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so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tall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as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his father."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FFF74E-4905-6354-5A8D-5C7732F52206}"/>
              </a:ext>
            </a:extLst>
          </p:cNvPr>
          <p:cNvSpPr txBox="1"/>
          <p:nvPr/>
        </p:nvSpPr>
        <p:spPr>
          <a:xfrm>
            <a:off x="1201812" y="3583434"/>
            <a:ext cx="7146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"She is not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so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experienced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as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her colleagues."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C98EB-C675-B2E3-D1C6-8E5049F9A214}"/>
              </a:ext>
            </a:extLst>
          </p:cNvPr>
          <p:cNvSpPr txBox="1"/>
          <p:nvPr/>
        </p:nvSpPr>
        <p:spPr>
          <a:xfrm>
            <a:off x="1201812" y="4195823"/>
            <a:ext cx="9074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"The project is not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so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complicated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as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we initially thought."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5A2406-7D67-A055-2B5F-4A4D83B2942C}"/>
              </a:ext>
            </a:extLst>
          </p:cNvPr>
          <p:cNvSpPr txBox="1"/>
          <p:nvPr/>
        </p:nvSpPr>
        <p:spPr>
          <a:xfrm>
            <a:off x="1090976" y="1995462"/>
            <a:ext cx="30524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2"/>
                </a:solidFill>
                <a:latin typeface="Montserrat Bold" panose="00000800000000000000" pitchFamily="2" charset="0"/>
              </a:rPr>
              <a:t>Examples</a:t>
            </a:r>
            <a:endParaRPr lang="en-IN" sz="4400" dirty="0">
              <a:solidFill>
                <a:schemeClr val="accent2"/>
              </a:solidFill>
              <a:latin typeface="Montserrat Bold" panose="000008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631A30-895D-208C-B4BB-352FCD80BF52}"/>
              </a:ext>
            </a:extLst>
          </p:cNvPr>
          <p:cNvSpPr txBox="1"/>
          <p:nvPr/>
        </p:nvSpPr>
        <p:spPr>
          <a:xfrm>
            <a:off x="3904535" y="5013242"/>
            <a:ext cx="4382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</a:rPr>
              <a:t>(It is used mostly for a lesser degree)</a:t>
            </a:r>
            <a:endParaRPr lang="en-IN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465EC4-9129-EEBC-E3C9-39E0C075615C}"/>
              </a:ext>
            </a:extLst>
          </p:cNvPr>
          <p:cNvSpPr txBox="1"/>
          <p:nvPr/>
        </p:nvSpPr>
        <p:spPr>
          <a:xfrm>
            <a:off x="7807919" y="775187"/>
            <a:ext cx="164339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>
                    <a:lumMod val="75000"/>
                  </a:schemeClr>
                </a:solidFill>
                <a:latin typeface="Montserrat Bold" panose="00000800000000000000" pitchFamily="2" charset="0"/>
              </a:rPr>
              <a:t>So</a:t>
            </a:r>
            <a:endParaRPr lang="en-IN" sz="8800" dirty="0">
              <a:solidFill>
                <a:schemeClr val="accent2">
                  <a:lumMod val="75000"/>
                </a:schemeClr>
              </a:solidFill>
              <a:latin typeface="Montserrat Bold" panose="000008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FAF332-720D-6A9B-826D-03FC000B89F3}"/>
              </a:ext>
            </a:extLst>
          </p:cNvPr>
          <p:cNvSpPr txBox="1"/>
          <p:nvPr/>
        </p:nvSpPr>
        <p:spPr>
          <a:xfrm>
            <a:off x="9035178" y="1318353"/>
            <a:ext cx="84189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  <a:latin typeface="Luthon Southard Script" panose="02000600000000000000" pitchFamily="50" charset="0"/>
              </a:rPr>
              <a:t>as</a:t>
            </a:r>
            <a:endParaRPr lang="en-IN" sz="8800" dirty="0">
              <a:solidFill>
                <a:schemeClr val="bg1"/>
              </a:solidFill>
              <a:latin typeface="Luthon Southard Script" panose="02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531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461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Aharoni</vt:lpstr>
      <vt:lpstr>Aptos Narrow</vt:lpstr>
      <vt:lpstr>Arial</vt:lpstr>
      <vt:lpstr>Calibri</vt:lpstr>
      <vt:lpstr>Calibri Light</vt:lpstr>
      <vt:lpstr>Luthon Southard Script</vt:lpstr>
      <vt:lpstr>Montserrat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IPA BFSBC</dc:creator>
  <cp:lastModifiedBy>IPA BFSBC</cp:lastModifiedBy>
  <cp:revision>45</cp:revision>
  <dcterms:created xsi:type="dcterms:W3CDTF">2024-01-28T15:20:08Z</dcterms:created>
  <dcterms:modified xsi:type="dcterms:W3CDTF">2024-05-07T05:50:18Z</dcterms:modified>
</cp:coreProperties>
</file>