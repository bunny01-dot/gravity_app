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4" r:id="rId3"/>
    <p:sldId id="275" r:id="rId4"/>
    <p:sldId id="279" r:id="rId5"/>
    <p:sldId id="276" r:id="rId6"/>
    <p:sldId id="280" r:id="rId7"/>
    <p:sldId id="281" r:id="rId8"/>
    <p:sldId id="277" r:id="rId9"/>
    <p:sldId id="278" r:id="rId10"/>
    <p:sldId id="28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9DF29-994F-4016-A72F-FA035FF84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36878-561A-07F1-5BB5-3A8456C6B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FEED8-A0D0-F62F-B03B-047616EEC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EDB3F-549E-EE9E-C348-062FB16B1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A14A6-AD7C-46C4-B2BF-870AE88E5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58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377AD-E51D-4961-2357-4A3B492F5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4B6D4-D220-7E00-2043-97BF4CE72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4BFE5-51B0-8F76-9EA1-AB9627A72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A4987-FBD0-078F-42C7-92EA735AF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BC86E-FBB6-9711-A5D1-3540F44AF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93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4BC26-D83A-7B77-9027-71BF3942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3A666-9FDB-297A-5F20-5769C6D37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8E80C-732A-2A63-C2FC-42E575402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9D767-C239-35F9-EC13-B8A226C76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91574-FC30-138A-ED2A-FB692F5D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70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35034-AA35-99B9-FC59-34ADCEE4F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D7426-886E-3EC9-AABC-8EEE1D1CB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D36E6-D303-5EE5-25B8-C0144320B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6557E-618B-A959-B873-09FF14916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0AECC-F36F-1F1A-3977-CC87E6280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16510-4F28-CA06-D101-BAE71F2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643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2201-B5AE-163B-F61F-5C0F44874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96307-3E99-9FC1-32FB-ABA0DA62C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76FF9-A7B1-B65B-3D08-BE1B58753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6BDF89-81B9-49DE-9A84-D53D27D08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AB6D9A-BE20-6289-1768-22CD7CB5F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5200BB-3BA0-56F0-0C1C-40E34F140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F459F0-9FE4-0EA4-9E11-896B914EA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143783-3387-666B-BBFE-0AB2502A1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783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3C739-A682-0DF3-0417-776522A45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6E69B4-B217-F44A-AEB4-A7A1E8E8B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847F3B-A8D4-C3C3-AA08-D7EF016B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F91BC-6C82-B366-521F-A6D93887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62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E68CEF-ECCA-E4CF-960C-A827303B9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8E9057-F29F-B07D-7486-3B0A6BDC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EA31C-0AB0-C4A5-88D7-76E6B6BA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4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43E1-EE33-C85C-335D-D0C53222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CF8-15D0-D991-2636-358E89622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D545F-14EC-E670-91DA-D27C5B209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4593B-5A10-6FE0-804F-8806C96B9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F9B53-457D-BCA9-79F1-CFACE9387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99203-2DA0-6665-A713-BA3164569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88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C35A1-3F15-7C8E-9973-0C4BFEBFC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EEBA8B-6A12-443D-582F-1C1DE11E9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4B03E-829C-A89B-DEF4-956D8949E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59819-931A-3CC2-36BC-19012E8C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D8038-DA20-46C1-BE2B-704446EFB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0368A-BF1F-BB78-FFD0-8EF33DE99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33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D3315-5CDF-21DE-4236-389DED53A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9DB7E-E672-75B4-204C-951794C43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775F3-35BB-57DF-908A-6B7F5901E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78F3B-8B2B-9B71-4835-D04B5F2FB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FAE83-5B61-233C-A8C6-628772802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10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9EDAAC-FF64-C3A4-BD3D-F33EB230C9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78314C-869E-7A74-EDFC-272ABE107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98511-5020-12CE-7697-CD0FDB5BD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A7DE9-6E61-7342-2FE2-20C37C51D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69229-5968-F9F3-744A-AB29925F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88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41F230-F08F-88FB-9ED2-925D06F07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E0377-A45D-2469-26F5-C44A0755C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CB6F1-1915-2899-DE90-60A24026E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BA894-39C2-64DC-A6F4-085688495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D84B7-9EED-586C-0BB2-E5811B61A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4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4C1DC6-3E41-96A6-A7D6-EB4E0DAA8EA7}"/>
              </a:ext>
            </a:extLst>
          </p:cNvPr>
          <p:cNvSpPr txBox="1"/>
          <p:nvPr/>
        </p:nvSpPr>
        <p:spPr>
          <a:xfrm>
            <a:off x="690513" y="2589582"/>
            <a:ext cx="10810973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900" b="1" dirty="0">
                <a:ln w="57150">
                  <a:solidFill>
                    <a:schemeClr val="bg1"/>
                  </a:solidFill>
                  <a:prstDash val="solid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ENGLISH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47560C-F03A-851C-E4C0-4199A9A8B2B6}"/>
              </a:ext>
            </a:extLst>
          </p:cNvPr>
          <p:cNvSpPr txBox="1"/>
          <p:nvPr/>
        </p:nvSpPr>
        <p:spPr>
          <a:xfrm>
            <a:off x="690513" y="1488567"/>
            <a:ext cx="6058069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SPOKEN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F995EFD6-756A-C993-DF1B-95B7BEA9A049}"/>
              </a:ext>
            </a:extLst>
          </p:cNvPr>
          <p:cNvSpPr/>
          <p:nvPr/>
        </p:nvSpPr>
        <p:spPr>
          <a:xfrm>
            <a:off x="10058400" y="0"/>
            <a:ext cx="1585913" cy="2000249"/>
          </a:xfrm>
          <a:prstGeom prst="foldedCorner">
            <a:avLst>
              <a:gd name="adj" fmla="val 3071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 dirty="0">
                <a:solidFill>
                  <a:schemeClr val="tx1"/>
                </a:solidFill>
                <a:latin typeface="Aptos Narrow" panose="020B0004020202020204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03117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538229" y="2321005"/>
            <a:ext cx="11115543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800" dirty="0">
                <a:solidFill>
                  <a:schemeClr val="accent4"/>
                </a:solidFill>
                <a:latin typeface="Montserrat Bold" panose="00000800000000000000" pitchFamily="2" charset="0"/>
              </a:rPr>
              <a:t>QUESTIONS</a:t>
            </a:r>
            <a:endParaRPr lang="en-IN" sz="13800" dirty="0">
              <a:solidFill>
                <a:schemeClr val="accent4"/>
              </a:solidFill>
              <a:latin typeface="Montserrat Bold" panose="000008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CBFF0D-1761-D260-A539-182D5073273E}"/>
              </a:ext>
            </a:extLst>
          </p:cNvPr>
          <p:cNvSpPr txBox="1"/>
          <p:nvPr/>
        </p:nvSpPr>
        <p:spPr>
          <a:xfrm>
            <a:off x="3560619" y="4420850"/>
            <a:ext cx="43717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  <a:latin typeface="Signatie" panose="02000500000000000000" pitchFamily="2" charset="0"/>
              </a:rPr>
              <a:t>8  types</a:t>
            </a:r>
            <a:endParaRPr lang="en-IN" sz="8800" dirty="0">
              <a:solidFill>
                <a:schemeClr val="bg1"/>
              </a:solidFill>
              <a:latin typeface="Signatie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986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453CDC-91A8-5307-F67D-71572D854387}"/>
              </a:ext>
            </a:extLst>
          </p:cNvPr>
          <p:cNvSpPr txBox="1"/>
          <p:nvPr/>
        </p:nvSpPr>
        <p:spPr>
          <a:xfrm>
            <a:off x="558660" y="1744420"/>
            <a:ext cx="38699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8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Yes/No Questions</a:t>
            </a:r>
            <a:endParaRPr lang="en-IN" sz="2800" dirty="0">
              <a:solidFill>
                <a:schemeClr val="accent4"/>
              </a:solidFill>
              <a:latin typeface="Montserrat regular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AC335E-1126-23B7-9846-0EAEBF35ED42}"/>
              </a:ext>
            </a:extLst>
          </p:cNvPr>
          <p:cNvSpPr txBox="1"/>
          <p:nvPr/>
        </p:nvSpPr>
        <p:spPr>
          <a:xfrm>
            <a:off x="1261183" y="2502095"/>
            <a:ext cx="96696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These questions are answered with "yes" or "no." </a:t>
            </a:r>
          </a:p>
          <a:p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They typically start with auxiliary verbs (e.g., "Is she coming?").</a:t>
            </a:r>
            <a:endParaRPr lang="en-IN" sz="2400" dirty="0">
              <a:solidFill>
                <a:schemeClr val="accent4"/>
              </a:solidFill>
              <a:latin typeface="Montserrat regular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2FB4CC-E6AB-24B7-DF5C-B8F396585F9E}"/>
              </a:ext>
            </a:extLst>
          </p:cNvPr>
          <p:cNvSpPr txBox="1"/>
          <p:nvPr/>
        </p:nvSpPr>
        <p:spPr>
          <a:xfrm>
            <a:off x="2819302" y="3707440"/>
            <a:ext cx="655339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Are you coming to the party tonight?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Did you finish your homework?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Can I borrow your pen?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Is it raining outside?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Will you be at the meeting tomorrow?</a:t>
            </a:r>
            <a:endParaRPr lang="en-IN" sz="2400" dirty="0">
              <a:solidFill>
                <a:schemeClr val="accent4"/>
              </a:solidFill>
              <a:latin typeface="Montserrat regular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8245F7-30B1-4365-B1E7-05100BABD9AF}"/>
              </a:ext>
            </a:extLst>
          </p:cNvPr>
          <p:cNvSpPr txBox="1"/>
          <p:nvPr/>
        </p:nvSpPr>
        <p:spPr>
          <a:xfrm>
            <a:off x="558660" y="668271"/>
            <a:ext cx="478849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4"/>
                </a:solidFill>
                <a:latin typeface="Montserrat Medium" panose="00000600000000000000" pitchFamily="2" charset="0"/>
              </a:rPr>
              <a:t>Question TYPES</a:t>
            </a:r>
            <a:endParaRPr lang="en-IN" sz="4400" dirty="0">
              <a:solidFill>
                <a:schemeClr val="accent4"/>
              </a:solidFill>
              <a:latin typeface="Montserrat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410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DED401-0FF5-B7D0-515E-B92E1F20BDB9}"/>
              </a:ext>
            </a:extLst>
          </p:cNvPr>
          <p:cNvSpPr txBox="1"/>
          <p:nvPr/>
        </p:nvSpPr>
        <p:spPr>
          <a:xfrm>
            <a:off x="558660" y="2008815"/>
            <a:ext cx="33826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IN" sz="2800" i="0" dirty="0" err="1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Wh</a:t>
            </a:r>
            <a:r>
              <a:rPr lang="en-IN" sz="28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-Questions:</a:t>
            </a:r>
            <a:endParaRPr lang="en-IN" sz="2800" dirty="0">
              <a:solidFill>
                <a:schemeClr val="accent4"/>
              </a:solidFill>
              <a:latin typeface="Montserrat regular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17BD86-4ACC-9D7E-6C3B-C1F03BF51351}"/>
              </a:ext>
            </a:extLst>
          </p:cNvPr>
          <p:cNvSpPr txBox="1"/>
          <p:nvPr/>
        </p:nvSpPr>
        <p:spPr>
          <a:xfrm>
            <a:off x="706582" y="2828835"/>
            <a:ext cx="106506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These questions start with words like "who," "what," "where,“ "when," "why," "which," or "how“ and often seek specific information (e.g., "Where are you going?").</a:t>
            </a:r>
            <a:endParaRPr lang="en-IN" sz="2000" dirty="0">
              <a:solidFill>
                <a:schemeClr val="accent4"/>
              </a:solidFill>
              <a:latin typeface="Montserrat regular" panose="000005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DE5B40-B258-FE54-9342-5C7BE2074795}"/>
              </a:ext>
            </a:extLst>
          </p:cNvPr>
          <p:cNvSpPr txBox="1"/>
          <p:nvPr/>
        </p:nvSpPr>
        <p:spPr>
          <a:xfrm>
            <a:off x="2700679" y="4250737"/>
            <a:ext cx="679064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What time is the movie starting?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Where did you go for vacation?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Why are you upset?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Who is the president of France?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How do you make a pizza from scratch?</a:t>
            </a:r>
            <a:endParaRPr lang="en-IN" sz="2400" dirty="0">
              <a:solidFill>
                <a:schemeClr val="accent4"/>
              </a:solidFill>
              <a:latin typeface="Montserrat regular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C723B2-34D9-43FE-8EB9-DC94AE252516}"/>
              </a:ext>
            </a:extLst>
          </p:cNvPr>
          <p:cNvSpPr txBox="1"/>
          <p:nvPr/>
        </p:nvSpPr>
        <p:spPr>
          <a:xfrm>
            <a:off x="558660" y="668271"/>
            <a:ext cx="478849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4"/>
                </a:solidFill>
                <a:latin typeface="Montserrat Medium" panose="00000600000000000000" pitchFamily="2" charset="0"/>
              </a:rPr>
              <a:t>Question TYPES</a:t>
            </a:r>
            <a:endParaRPr lang="en-IN" sz="4400" dirty="0">
              <a:solidFill>
                <a:schemeClr val="accent4"/>
              </a:solidFill>
              <a:latin typeface="Montserrat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783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CFA5C5-A3AA-38D2-0959-F48341AFD95A}"/>
              </a:ext>
            </a:extLst>
          </p:cNvPr>
          <p:cNvSpPr txBox="1"/>
          <p:nvPr/>
        </p:nvSpPr>
        <p:spPr>
          <a:xfrm>
            <a:off x="558660" y="668271"/>
            <a:ext cx="478849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4"/>
                </a:solidFill>
                <a:latin typeface="Montserrat Medium" panose="00000600000000000000" pitchFamily="2" charset="0"/>
              </a:rPr>
              <a:t>Question TYPES</a:t>
            </a:r>
            <a:endParaRPr lang="en-IN" sz="4400" dirty="0">
              <a:solidFill>
                <a:schemeClr val="accent4"/>
              </a:solidFill>
              <a:latin typeface="Montserrat Medium" panose="000006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453CDC-91A8-5307-F67D-71572D854387}"/>
              </a:ext>
            </a:extLst>
          </p:cNvPr>
          <p:cNvSpPr txBox="1"/>
          <p:nvPr/>
        </p:nvSpPr>
        <p:spPr>
          <a:xfrm>
            <a:off x="558660" y="1744420"/>
            <a:ext cx="38843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Montserrat regular" panose="00000500000000000000" pitchFamily="2" charset="0"/>
              </a:rPr>
              <a:t>3</a:t>
            </a:r>
            <a:r>
              <a:rPr lang="en-IN" sz="2800" dirty="0">
                <a:solidFill>
                  <a:schemeClr val="bg1"/>
                </a:solidFill>
                <a:latin typeface="Montserrat regular" panose="00000500000000000000" pitchFamily="2" charset="0"/>
              </a:rPr>
              <a:t>. Choice Questions: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AC335E-1126-23B7-9846-0EAEBF35ED42}"/>
              </a:ext>
            </a:extLst>
          </p:cNvPr>
          <p:cNvSpPr txBox="1"/>
          <p:nvPr/>
        </p:nvSpPr>
        <p:spPr>
          <a:xfrm>
            <a:off x="948597" y="2502095"/>
            <a:ext cx="102948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These questions present options, and the respondent selects one </a:t>
            </a:r>
          </a:p>
          <a:p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(e.g., "Do you prefer tea or coffee?").</a:t>
            </a:r>
            <a:endParaRPr lang="en-IN" sz="2400" dirty="0">
              <a:solidFill>
                <a:schemeClr val="accent4"/>
              </a:solidFill>
              <a:latin typeface="Montserrat regular" panose="000005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45422A-5B63-A7D4-D6C1-2677574646EC}"/>
              </a:ext>
            </a:extLst>
          </p:cNvPr>
          <p:cNvSpPr txBox="1"/>
          <p:nvPr/>
        </p:nvSpPr>
        <p:spPr>
          <a:xfrm>
            <a:off x="1648308" y="3707440"/>
            <a:ext cx="889538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Do you want chocolate or vanilla ice cream?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Would you like tea or coffee with your breakfast?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Should I wear the blue shirt or the red one?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Do you prefer cats or dogs as pets?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Should we go to the park or the beach this weekend?</a:t>
            </a:r>
            <a:endParaRPr lang="en-IN" sz="2400" dirty="0">
              <a:solidFill>
                <a:schemeClr val="accent4"/>
              </a:solidFill>
              <a:latin typeface="Montserrat regular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090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DED401-0FF5-B7D0-515E-B92E1F20BDB9}"/>
              </a:ext>
            </a:extLst>
          </p:cNvPr>
          <p:cNvSpPr txBox="1"/>
          <p:nvPr/>
        </p:nvSpPr>
        <p:spPr>
          <a:xfrm>
            <a:off x="558660" y="1775286"/>
            <a:ext cx="32496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Montserrat regular" panose="00000500000000000000" pitchFamily="2" charset="0"/>
              </a:rPr>
              <a:t>4. Tag Questions: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17BD86-4ACC-9D7E-6C3B-C1F03BF51351}"/>
              </a:ext>
            </a:extLst>
          </p:cNvPr>
          <p:cNvSpPr txBox="1"/>
          <p:nvPr/>
        </p:nvSpPr>
        <p:spPr>
          <a:xfrm>
            <a:off x="1001496" y="2595306"/>
            <a:ext cx="101890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These are added to the end of a statement to turn it into a question and often seek confirmation or agreement (e.g., "It's raining, isn't it?").</a:t>
            </a:r>
            <a:endParaRPr lang="en-IN" sz="2000" dirty="0">
              <a:solidFill>
                <a:schemeClr val="accent4"/>
              </a:solidFill>
              <a:latin typeface="Montserrat regular" panose="000005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AC057D-A2F7-2B6F-9F02-252255A0A6BA}"/>
              </a:ext>
            </a:extLst>
          </p:cNvPr>
          <p:cNvSpPr txBox="1"/>
          <p:nvPr/>
        </p:nvSpPr>
        <p:spPr>
          <a:xfrm>
            <a:off x="2553203" y="4092435"/>
            <a:ext cx="708559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It's a beautiful day, isn't it?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You finished your homework, didn't you?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He's a good singer, isn't he?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She won the race, didn't she?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They are coming to the party, aren't they?</a:t>
            </a:r>
            <a:endParaRPr lang="en-IN" sz="2400" dirty="0">
              <a:solidFill>
                <a:schemeClr val="accent4"/>
              </a:solidFill>
              <a:latin typeface="Montserrat regular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986A3A-CF16-144A-C729-B308E581191B}"/>
              </a:ext>
            </a:extLst>
          </p:cNvPr>
          <p:cNvSpPr txBox="1"/>
          <p:nvPr/>
        </p:nvSpPr>
        <p:spPr>
          <a:xfrm>
            <a:off x="558660" y="668271"/>
            <a:ext cx="478849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4"/>
                </a:solidFill>
                <a:latin typeface="Montserrat Medium" panose="00000600000000000000" pitchFamily="2" charset="0"/>
              </a:rPr>
              <a:t>Question TYPES</a:t>
            </a:r>
            <a:endParaRPr lang="en-IN" sz="4400" dirty="0">
              <a:solidFill>
                <a:schemeClr val="accent4"/>
              </a:solidFill>
              <a:latin typeface="Montserrat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856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453CDC-91A8-5307-F67D-71572D854387}"/>
              </a:ext>
            </a:extLst>
          </p:cNvPr>
          <p:cNvSpPr txBox="1"/>
          <p:nvPr/>
        </p:nvSpPr>
        <p:spPr>
          <a:xfrm>
            <a:off x="558660" y="1744420"/>
            <a:ext cx="4613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Montserrat regular" panose="00000500000000000000" pitchFamily="2" charset="0"/>
              </a:rPr>
              <a:t>5. Alternative Questions: </a:t>
            </a:r>
            <a:endParaRPr lang="en-IN" sz="2800" dirty="0">
              <a:solidFill>
                <a:schemeClr val="bg1"/>
              </a:solidFill>
              <a:latin typeface="Montserrat regular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AC335E-1126-23B7-9846-0EAEBF35ED42}"/>
              </a:ext>
            </a:extLst>
          </p:cNvPr>
          <p:cNvSpPr txBox="1"/>
          <p:nvPr/>
        </p:nvSpPr>
        <p:spPr>
          <a:xfrm>
            <a:off x="754634" y="2558187"/>
            <a:ext cx="106827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These present two or more choices, and the respondent selects one </a:t>
            </a:r>
          </a:p>
          <a:p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(e.g., "Would you like tea or coffee?").</a:t>
            </a:r>
            <a:endParaRPr lang="en-IN" sz="2400" dirty="0">
              <a:solidFill>
                <a:schemeClr val="accent4"/>
              </a:solidFill>
              <a:latin typeface="Montserrat regular" panose="000005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EB562A-BD3A-A1BA-EDD2-56B9D00D5713}"/>
              </a:ext>
            </a:extLst>
          </p:cNvPr>
          <p:cNvSpPr txBox="1"/>
          <p:nvPr/>
        </p:nvSpPr>
        <p:spPr>
          <a:xfrm>
            <a:off x="1321296" y="3679731"/>
            <a:ext cx="954940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Would you like pizza or pasta for dinner?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Do you prefer to watch movies at home or at the cinema?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Should I call you now or later?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Are you going to take the bus or walk to school?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Do you want to visit Paris or Rome on our vacation?</a:t>
            </a:r>
            <a:endParaRPr lang="en-IN" sz="2400" dirty="0">
              <a:solidFill>
                <a:schemeClr val="accent4"/>
              </a:solidFill>
              <a:latin typeface="Montserrat regular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2F8286-9A8E-C047-B29E-0C761066F1F4}"/>
              </a:ext>
            </a:extLst>
          </p:cNvPr>
          <p:cNvSpPr txBox="1"/>
          <p:nvPr/>
        </p:nvSpPr>
        <p:spPr>
          <a:xfrm>
            <a:off x="558660" y="668271"/>
            <a:ext cx="478849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4"/>
                </a:solidFill>
                <a:latin typeface="Montserrat Medium" panose="00000600000000000000" pitchFamily="2" charset="0"/>
              </a:rPr>
              <a:t>Question TYPES</a:t>
            </a:r>
            <a:endParaRPr lang="en-IN" sz="4400" dirty="0">
              <a:solidFill>
                <a:schemeClr val="accent4"/>
              </a:solidFill>
              <a:latin typeface="Montserrat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452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DED401-0FF5-B7D0-515E-B92E1F20BDB9}"/>
              </a:ext>
            </a:extLst>
          </p:cNvPr>
          <p:cNvSpPr txBox="1"/>
          <p:nvPr/>
        </p:nvSpPr>
        <p:spPr>
          <a:xfrm>
            <a:off x="558660" y="2008815"/>
            <a:ext cx="40607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Montserrat regular" panose="00000500000000000000" pitchFamily="2" charset="0"/>
              </a:rPr>
              <a:t>6. Indirect Questions: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17BD86-4ACC-9D7E-6C3B-C1F03BF51351}"/>
              </a:ext>
            </a:extLst>
          </p:cNvPr>
          <p:cNvSpPr txBox="1"/>
          <p:nvPr/>
        </p:nvSpPr>
        <p:spPr>
          <a:xfrm>
            <a:off x="558660" y="2828835"/>
            <a:ext cx="109544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These are embedded within a statement and often used to be polite or less direct.</a:t>
            </a:r>
          </a:p>
          <a:p>
            <a:r>
              <a:rPr lang="en-US" sz="20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(e.g., "I wonder if you could tell me the time?").</a:t>
            </a:r>
            <a:endParaRPr lang="en-IN" sz="2000" dirty="0">
              <a:solidFill>
                <a:schemeClr val="accent4"/>
              </a:solidFill>
              <a:latin typeface="Montserrat regular" panose="000005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10BDAE-E92B-23C2-1700-2EE146CB3941}"/>
              </a:ext>
            </a:extLst>
          </p:cNvPr>
          <p:cNvSpPr txBox="1"/>
          <p:nvPr/>
        </p:nvSpPr>
        <p:spPr>
          <a:xfrm>
            <a:off x="1252366" y="3965746"/>
            <a:ext cx="968726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Can you tell me what time the train leaves?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Do you know where the nearest gas station is?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Could you explain how this machine works?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I wonder if you could tell me when the library closes?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Would you mind telling me who won the game last night?</a:t>
            </a:r>
            <a:endParaRPr lang="en-IN" sz="2400" dirty="0">
              <a:solidFill>
                <a:schemeClr val="accent4"/>
              </a:solidFill>
              <a:latin typeface="Montserrat regular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71F3D2-E088-E786-74A8-2AAFBAA2B06A}"/>
              </a:ext>
            </a:extLst>
          </p:cNvPr>
          <p:cNvSpPr txBox="1"/>
          <p:nvPr/>
        </p:nvSpPr>
        <p:spPr>
          <a:xfrm>
            <a:off x="558660" y="668271"/>
            <a:ext cx="478849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4"/>
                </a:solidFill>
                <a:latin typeface="Montserrat Medium" panose="00000600000000000000" pitchFamily="2" charset="0"/>
              </a:rPr>
              <a:t>Question TYPES</a:t>
            </a:r>
            <a:endParaRPr lang="en-IN" sz="4400" dirty="0">
              <a:solidFill>
                <a:schemeClr val="accent4"/>
              </a:solidFill>
              <a:latin typeface="Montserrat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891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453CDC-91A8-5307-F67D-71572D854387}"/>
              </a:ext>
            </a:extLst>
          </p:cNvPr>
          <p:cNvSpPr txBox="1"/>
          <p:nvPr/>
        </p:nvSpPr>
        <p:spPr>
          <a:xfrm>
            <a:off x="558660" y="1744420"/>
            <a:ext cx="4398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Montserrat regular" panose="00000500000000000000" pitchFamily="2" charset="0"/>
              </a:rPr>
              <a:t>7. Rhetorical Questions:</a:t>
            </a:r>
            <a:endParaRPr lang="en-IN" sz="2800" dirty="0">
              <a:solidFill>
                <a:schemeClr val="bg1"/>
              </a:solidFill>
              <a:latin typeface="Montserrat regular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AC335E-1126-23B7-9846-0EAEBF35ED42}"/>
              </a:ext>
            </a:extLst>
          </p:cNvPr>
          <p:cNvSpPr txBox="1"/>
          <p:nvPr/>
        </p:nvSpPr>
        <p:spPr>
          <a:xfrm>
            <a:off x="1274861" y="2601405"/>
            <a:ext cx="99758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These are asked for effect or to make a point, rather than to draw an answer </a:t>
            </a:r>
          </a:p>
          <a:p>
            <a:r>
              <a:rPr lang="en-US" sz="20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(e.g., "Do you think I was born yesterday?").</a:t>
            </a:r>
            <a:endParaRPr lang="en-IN" sz="2000" dirty="0">
              <a:solidFill>
                <a:schemeClr val="accent4"/>
              </a:solidFill>
              <a:latin typeface="Montserrat regular" panose="000005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770883-DDFC-5385-77C0-78CCBEBB3A23}"/>
              </a:ext>
            </a:extLst>
          </p:cNvPr>
          <p:cNvSpPr txBox="1"/>
          <p:nvPr/>
        </p:nvSpPr>
        <p:spPr>
          <a:xfrm>
            <a:off x="3072576" y="3707440"/>
            <a:ext cx="604684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Do you think I was born yesterday?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Who do you think you are?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Does a bear live in the woods?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Can birds fly?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Is the sky blue?</a:t>
            </a:r>
            <a:endParaRPr lang="en-IN" sz="2400" dirty="0">
              <a:solidFill>
                <a:schemeClr val="accent4"/>
              </a:solidFill>
              <a:latin typeface="Montserrat regular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DD6E92-8E9F-23F5-B8BC-50093BDAB00A}"/>
              </a:ext>
            </a:extLst>
          </p:cNvPr>
          <p:cNvSpPr txBox="1"/>
          <p:nvPr/>
        </p:nvSpPr>
        <p:spPr>
          <a:xfrm>
            <a:off x="558660" y="668271"/>
            <a:ext cx="478849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4"/>
                </a:solidFill>
                <a:latin typeface="Montserrat Medium" panose="00000600000000000000" pitchFamily="2" charset="0"/>
              </a:rPr>
              <a:t>Question TYPES</a:t>
            </a:r>
            <a:endParaRPr lang="en-IN" sz="4400" dirty="0">
              <a:solidFill>
                <a:schemeClr val="accent4"/>
              </a:solidFill>
              <a:latin typeface="Montserrat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4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DED401-0FF5-B7D0-515E-B92E1F20BDB9}"/>
              </a:ext>
            </a:extLst>
          </p:cNvPr>
          <p:cNvSpPr txBox="1"/>
          <p:nvPr/>
        </p:nvSpPr>
        <p:spPr>
          <a:xfrm>
            <a:off x="558660" y="1794442"/>
            <a:ext cx="34868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Montserrat regular" panose="00000500000000000000" pitchFamily="2" charset="0"/>
              </a:rPr>
              <a:t>8. Echo Questions: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17BD86-4ACC-9D7E-6C3B-C1F03BF51351}"/>
              </a:ext>
            </a:extLst>
          </p:cNvPr>
          <p:cNvSpPr txBox="1"/>
          <p:nvPr/>
        </p:nvSpPr>
        <p:spPr>
          <a:xfrm>
            <a:off x="558660" y="2499396"/>
            <a:ext cx="11259267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These are a form of confirmation seeking where the speaker repeats a part of what was just said, typically with rising intonation, to confirm or clarify </a:t>
            </a:r>
          </a:p>
          <a:p>
            <a:r>
              <a:rPr lang="en-US" sz="23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(e.g., "You're going where?").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B84513-231E-36D0-BD50-AA21DA0878C0}"/>
              </a:ext>
            </a:extLst>
          </p:cNvPr>
          <p:cNvSpPr txBox="1"/>
          <p:nvPr/>
        </p:nvSpPr>
        <p:spPr>
          <a:xfrm>
            <a:off x="3980678" y="3998385"/>
            <a:ext cx="423064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You're going where?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He said what?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She ate how much?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You bought which car?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dirty="0">
                <a:solidFill>
                  <a:srgbClr val="ECECEC"/>
                </a:solidFill>
                <a:effectLst/>
                <a:latin typeface="Montserrat regular" panose="00000500000000000000" pitchFamily="2" charset="0"/>
              </a:rPr>
              <a:t>They did what?</a:t>
            </a:r>
            <a:endParaRPr lang="en-IN" sz="2400" dirty="0">
              <a:solidFill>
                <a:schemeClr val="accent4"/>
              </a:solidFill>
              <a:latin typeface="Montserrat regular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0D1D87-D2D1-B9DB-D8C8-6AFCBA12831C}"/>
              </a:ext>
            </a:extLst>
          </p:cNvPr>
          <p:cNvSpPr txBox="1"/>
          <p:nvPr/>
        </p:nvSpPr>
        <p:spPr>
          <a:xfrm>
            <a:off x="558660" y="668271"/>
            <a:ext cx="478849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4"/>
                </a:solidFill>
                <a:latin typeface="Montserrat Medium" panose="00000600000000000000" pitchFamily="2" charset="0"/>
              </a:rPr>
              <a:t>Question TYPES</a:t>
            </a:r>
            <a:endParaRPr lang="en-IN" sz="4400" dirty="0">
              <a:solidFill>
                <a:schemeClr val="accent4"/>
              </a:solidFill>
              <a:latin typeface="Montserrat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464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633</Words>
  <Application>Microsoft Office PowerPoint</Application>
  <PresentationFormat>Widescreen</PresentationFormat>
  <Paragraphs>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Aharoni</vt:lpstr>
      <vt:lpstr>Aptos Narrow</vt:lpstr>
      <vt:lpstr>Arial</vt:lpstr>
      <vt:lpstr>Calibri</vt:lpstr>
      <vt:lpstr>Calibri Light</vt:lpstr>
      <vt:lpstr>Montserrat Bold</vt:lpstr>
      <vt:lpstr>Montserrat Medium</vt:lpstr>
      <vt:lpstr>Montserrat regular</vt:lpstr>
      <vt:lpstr>Signatie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IPA BFSBC</dc:creator>
  <cp:lastModifiedBy>IPA BFSBC</cp:lastModifiedBy>
  <cp:revision>53</cp:revision>
  <dcterms:created xsi:type="dcterms:W3CDTF">2024-01-28T15:20:08Z</dcterms:created>
  <dcterms:modified xsi:type="dcterms:W3CDTF">2024-05-07T09:22:24Z</dcterms:modified>
</cp:coreProperties>
</file>