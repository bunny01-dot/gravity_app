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9DF29-994F-4016-A72F-FA035FF84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36878-561A-07F1-5BB5-3A8456C6B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FEED8-A0D0-F62F-B03B-047616EEC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EDB3F-549E-EE9E-C348-062FB16B1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A14A6-AD7C-46C4-B2BF-870AE88E5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5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377AD-E51D-4961-2357-4A3B492F5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4B6D4-D220-7E00-2043-97BF4CE72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4BFE5-51B0-8F76-9EA1-AB9627A7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A4987-FBD0-078F-42C7-92EA735A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BC86E-FBB6-9711-A5D1-3540F44AF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9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4BC26-D83A-7B77-9027-71BF3942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3A666-9FDB-297A-5F20-5769C6D37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8E80C-732A-2A63-C2FC-42E57540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9D767-C239-35F9-EC13-B8A226C76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91574-FC30-138A-ED2A-FB692F5D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70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35034-AA35-99B9-FC59-34ADCEE4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D7426-886E-3EC9-AABC-8EEE1D1CB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D36E6-D303-5EE5-25B8-C0144320B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6557E-618B-A959-B873-09FF14916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0AECC-F36F-1F1A-3977-CC87E6280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16510-4F28-CA06-D101-BAE71F2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43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2201-B5AE-163B-F61F-5C0F44874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96307-3E99-9FC1-32FB-ABA0DA62C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76FF9-A7B1-B65B-3D08-BE1B58753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BDF89-81B9-49DE-9A84-D53D27D08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AB6D9A-BE20-6289-1768-22CD7CB5F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5200BB-3BA0-56F0-0C1C-40E34F140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F459F0-9FE4-0EA4-9E11-896B914EA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143783-3387-666B-BBFE-0AB2502A1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83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C739-A682-0DF3-0417-776522A4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E69B4-B217-F44A-AEB4-A7A1E8E8B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847F3B-A8D4-C3C3-AA08-D7EF016B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F91BC-6C82-B366-521F-A6D93887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62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68CEF-ECCA-E4CF-960C-A827303B9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8E9057-F29F-B07D-7486-3B0A6BDC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EA31C-0AB0-C4A5-88D7-76E6B6BA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4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43E1-EE33-C85C-335D-D0C53222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CF8-15D0-D991-2636-358E89622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D545F-14EC-E670-91DA-D27C5B209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4593B-5A10-6FE0-804F-8806C96B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F9B53-457D-BCA9-79F1-CFACE938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99203-2DA0-6665-A713-BA316456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88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35A1-3F15-7C8E-9973-0C4BFEBFC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EEBA8B-6A12-443D-582F-1C1DE11E9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4B03E-829C-A89B-DEF4-956D8949E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59819-931A-3CC2-36BC-19012E8C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D8038-DA20-46C1-BE2B-704446EF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0368A-BF1F-BB78-FFD0-8EF33DE9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33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3315-5CDF-21DE-4236-389DED53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9DB7E-E672-75B4-204C-951794C43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775F3-35BB-57DF-908A-6B7F5901E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78F3B-8B2B-9B71-4835-D04B5F2FB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FAE83-5B61-233C-A8C6-62877280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10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9EDAAC-FF64-C3A4-BD3D-F33EB230C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8314C-869E-7A74-EDFC-272ABE107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98511-5020-12CE-7697-CD0FDB5BD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A7DE9-6E61-7342-2FE2-20C37C51D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69229-5968-F9F3-744A-AB29925F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88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41F230-F08F-88FB-9ED2-925D06F07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E0377-A45D-2469-26F5-C44A0755C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CB6F1-1915-2899-DE90-60A24026E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BA894-39C2-64DC-A6F4-085688495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D84B7-9EED-586C-0BB2-E5811B61A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4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C1DC6-3E41-96A6-A7D6-EB4E0DAA8EA7}"/>
              </a:ext>
            </a:extLst>
          </p:cNvPr>
          <p:cNvSpPr txBox="1"/>
          <p:nvPr/>
        </p:nvSpPr>
        <p:spPr>
          <a:xfrm>
            <a:off x="690513" y="2589582"/>
            <a:ext cx="10810973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b="1" dirty="0">
                <a:ln w="57150">
                  <a:solidFill>
                    <a:schemeClr val="bg1"/>
                  </a:solidFill>
                  <a:prstDash val="solid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ENGLISH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47560C-F03A-851C-E4C0-4199A9A8B2B6}"/>
              </a:ext>
            </a:extLst>
          </p:cNvPr>
          <p:cNvSpPr txBox="1"/>
          <p:nvPr/>
        </p:nvSpPr>
        <p:spPr>
          <a:xfrm>
            <a:off x="690513" y="1488567"/>
            <a:ext cx="6058069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SPOKEN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F995EFD6-756A-C993-DF1B-95B7BEA9A049}"/>
              </a:ext>
            </a:extLst>
          </p:cNvPr>
          <p:cNvSpPr/>
          <p:nvPr/>
        </p:nvSpPr>
        <p:spPr>
          <a:xfrm>
            <a:off x="10058400" y="0"/>
            <a:ext cx="1585913" cy="2000249"/>
          </a:xfrm>
          <a:prstGeom prst="foldedCorner">
            <a:avLst>
              <a:gd name="adj" fmla="val 30717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dirty="0">
                <a:solidFill>
                  <a:schemeClr val="bg1"/>
                </a:solidFill>
                <a:latin typeface="Aptos Narrow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03117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1536098" y="1691644"/>
            <a:ext cx="9119804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800" dirty="0">
                <a:solidFill>
                  <a:schemeClr val="accent2">
                    <a:lumMod val="75000"/>
                  </a:schemeClr>
                </a:solidFill>
                <a:latin typeface="Montserrat Bold" panose="00000800000000000000" pitchFamily="2" charset="0"/>
              </a:rPr>
              <a:t>PHRASAL</a:t>
            </a:r>
            <a:endParaRPr lang="en-IN" sz="13800" dirty="0">
              <a:solidFill>
                <a:schemeClr val="accent2">
                  <a:lumMod val="75000"/>
                </a:schemeClr>
              </a:solidFill>
              <a:latin typeface="Montserrat Bold" panose="000008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CBFF0D-1761-D260-A539-182D5073273E}"/>
              </a:ext>
            </a:extLst>
          </p:cNvPr>
          <p:cNvSpPr txBox="1"/>
          <p:nvPr/>
        </p:nvSpPr>
        <p:spPr>
          <a:xfrm>
            <a:off x="4525698" y="3184360"/>
            <a:ext cx="314060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Signatie" panose="02000500000000000000" pitchFamily="2" charset="0"/>
              </a:rPr>
              <a:t>Verbs</a:t>
            </a:r>
            <a:endParaRPr lang="en-IN" sz="8800" dirty="0">
              <a:solidFill>
                <a:schemeClr val="bg1"/>
              </a:solidFill>
              <a:latin typeface="Signatie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274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626974" y="2061100"/>
            <a:ext cx="63401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2">
                    <a:lumMod val="75000"/>
                  </a:schemeClr>
                </a:solidFill>
                <a:latin typeface="Montserrat Bold" panose="00000800000000000000" pitchFamily="2" charset="0"/>
              </a:rPr>
              <a:t>PHRASAL VERBS</a:t>
            </a:r>
            <a:endParaRPr lang="en-IN" sz="5400" dirty="0">
              <a:solidFill>
                <a:schemeClr val="accent2">
                  <a:lumMod val="75000"/>
                </a:schemeClr>
              </a:solidFill>
              <a:latin typeface="Montserrat Bold" panose="000008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901CB-DFD8-BBB8-0F69-353F2572BE95}"/>
              </a:ext>
            </a:extLst>
          </p:cNvPr>
          <p:cNvSpPr txBox="1"/>
          <p:nvPr/>
        </p:nvSpPr>
        <p:spPr>
          <a:xfrm>
            <a:off x="1058403" y="3279639"/>
            <a:ext cx="100751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These combinations create new meanings that often differ from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the individual meanings of the verb and particle(s) used.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593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1576173" y="1603900"/>
            <a:ext cx="90396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Montserrat Bold" panose="00000800000000000000" pitchFamily="2" charset="0"/>
              </a:rPr>
              <a:t>STRUCTURE OF PHRASAL VERBS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901CB-DFD8-BBB8-0F69-353F2572BE95}"/>
              </a:ext>
            </a:extLst>
          </p:cNvPr>
          <p:cNvSpPr txBox="1"/>
          <p:nvPr/>
        </p:nvSpPr>
        <p:spPr>
          <a:xfrm>
            <a:off x="1576173" y="2697749"/>
            <a:ext cx="819647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Verb + Preposition: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Examples: look after, give up, get on with</a:t>
            </a:r>
          </a:p>
          <a:p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Verb + Adverb: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Examples: break down, take off, calm down</a:t>
            </a:r>
          </a:p>
          <a:p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Verb + Preposition + Adverb: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Examples: look forward to, put up with, come across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42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883675" y="1188811"/>
            <a:ext cx="104246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Montserrat Bold" panose="00000800000000000000" pitchFamily="2" charset="0"/>
              </a:rPr>
              <a:t>COMMON TYPES OF PHRASAL VERBS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901CB-DFD8-BBB8-0F69-353F2572BE95}"/>
              </a:ext>
            </a:extLst>
          </p:cNvPr>
          <p:cNvSpPr txBox="1"/>
          <p:nvPr/>
        </p:nvSpPr>
        <p:spPr>
          <a:xfrm>
            <a:off x="2116500" y="2392949"/>
            <a:ext cx="624722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Intransitive Phrasal Verbs:</a:t>
            </a:r>
          </a:p>
          <a:p>
            <a:endParaRPr lang="en-US" sz="2400" dirty="0">
              <a:solidFill>
                <a:schemeClr val="accent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These </a:t>
            </a:r>
            <a:r>
              <a:rPr lang="en-US" sz="2400" dirty="0">
                <a:solidFill>
                  <a:schemeClr val="accent2"/>
                </a:solidFill>
                <a:latin typeface="Montserrat" panose="00000500000000000000" pitchFamily="2" charset="0"/>
              </a:rPr>
              <a:t>do not 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take an object after them.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Example: "The car broke down”.</a:t>
            </a:r>
          </a:p>
          <a:p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Transitive Phrasal Verbs:</a:t>
            </a:r>
          </a:p>
          <a:p>
            <a:endParaRPr lang="en-US" sz="2400" dirty="0">
              <a:solidFill>
                <a:schemeClr val="accent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These take an </a:t>
            </a:r>
            <a:r>
              <a:rPr lang="en-US" sz="2400" dirty="0">
                <a:solidFill>
                  <a:schemeClr val="accent2"/>
                </a:solidFill>
                <a:latin typeface="Montserrat" panose="00000500000000000000" pitchFamily="2" charset="0"/>
              </a:rPr>
              <a:t>object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 after them.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Example: "She takes after her mother."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654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646085" y="897865"/>
            <a:ext cx="74639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Montserrat Bold" panose="00000800000000000000" pitchFamily="2" charset="0"/>
              </a:rPr>
              <a:t>Examples of Phrasal Verbs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901CB-DFD8-BBB8-0F69-353F2572BE95}"/>
              </a:ext>
            </a:extLst>
          </p:cNvPr>
          <p:cNvSpPr txBox="1"/>
          <p:nvPr/>
        </p:nvSpPr>
        <p:spPr>
          <a:xfrm>
            <a:off x="1867118" y="1805151"/>
            <a:ext cx="7903126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Look after: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Meaning: Take care of someone or something.</a:t>
            </a:r>
          </a:p>
          <a:p>
            <a:r>
              <a:rPr lang="en-US" sz="2400" dirty="0">
                <a:solidFill>
                  <a:schemeClr val="accent2"/>
                </a:solidFill>
                <a:latin typeface="Montserrat" panose="00000500000000000000" pitchFamily="2" charset="0"/>
              </a:rPr>
              <a:t>Example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: "She looks after her younger siblings.“</a:t>
            </a:r>
          </a:p>
          <a:p>
            <a:endParaRPr lang="en-US" sz="2400" dirty="0">
              <a:solidFill>
                <a:schemeClr val="bg1"/>
              </a:solidFill>
              <a:latin typeface="Montserrat" panose="00000500000000000000" pitchFamily="2" charset="0"/>
            </a:endParaRP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Give up: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Meaning: Stop doing something or surrender.</a:t>
            </a:r>
          </a:p>
          <a:p>
            <a:r>
              <a:rPr lang="en-US" sz="2400" dirty="0">
                <a:solidFill>
                  <a:schemeClr val="accent2"/>
                </a:solidFill>
                <a:latin typeface="Montserrat" panose="00000500000000000000" pitchFamily="2" charset="0"/>
              </a:rPr>
              <a:t>Example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: "He gave up smoking.“</a:t>
            </a:r>
          </a:p>
          <a:p>
            <a:endParaRPr lang="en-US" sz="2400" dirty="0">
              <a:solidFill>
                <a:schemeClr val="accent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Get on with: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Meaning: Have a good relationship with someone.</a:t>
            </a:r>
          </a:p>
          <a:p>
            <a:r>
              <a:rPr lang="en-US" sz="2400" dirty="0">
                <a:solidFill>
                  <a:schemeClr val="accent2"/>
                </a:solidFill>
                <a:latin typeface="Montserrat" panose="00000500000000000000" pitchFamily="2" charset="0"/>
              </a:rPr>
              <a:t>Example</a:t>
            </a:r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: "I get on well with my colleagues."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8FD974-31B7-12A1-EE53-746A73778C48}"/>
              </a:ext>
            </a:extLst>
          </p:cNvPr>
          <p:cNvSpPr txBox="1"/>
          <p:nvPr/>
        </p:nvSpPr>
        <p:spPr>
          <a:xfrm>
            <a:off x="1066800" y="2105890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1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A89B8A-F7AB-1560-0E8C-F678D1535B85}"/>
              </a:ext>
            </a:extLst>
          </p:cNvPr>
          <p:cNvSpPr txBox="1"/>
          <p:nvPr/>
        </p:nvSpPr>
        <p:spPr>
          <a:xfrm>
            <a:off x="1066800" y="3559477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2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890CD1-389D-0B76-0822-5963B340DFA1}"/>
              </a:ext>
            </a:extLst>
          </p:cNvPr>
          <p:cNvSpPr txBox="1"/>
          <p:nvPr/>
        </p:nvSpPr>
        <p:spPr>
          <a:xfrm>
            <a:off x="1066800" y="5013064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3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112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449262" y="897865"/>
            <a:ext cx="74639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Montserrat Bold" panose="00000800000000000000" pitchFamily="2" charset="0"/>
              </a:rPr>
              <a:t>Examples of Phrasal Verbs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901CB-DFD8-BBB8-0F69-353F2572BE95}"/>
              </a:ext>
            </a:extLst>
          </p:cNvPr>
          <p:cNvSpPr txBox="1"/>
          <p:nvPr/>
        </p:nvSpPr>
        <p:spPr>
          <a:xfrm>
            <a:off x="781771" y="1821686"/>
            <a:ext cx="11293476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Break down: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Meaning: Stop working (for machinery) or fail emotionally (for a person).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Example: "The car broke down on the way home.“</a:t>
            </a:r>
          </a:p>
          <a:p>
            <a:endParaRPr lang="en-US" sz="2400" b="1" dirty="0">
              <a:solidFill>
                <a:schemeClr val="accent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Take off: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Meaning: Remove clothing or become successful quickly.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Example: “He took off her coat." / "The new song is really taking off.“</a:t>
            </a:r>
          </a:p>
          <a:p>
            <a:endParaRPr lang="en-US" sz="2400" b="1" dirty="0">
              <a:solidFill>
                <a:schemeClr val="accent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Calm down: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Meaning: Relax or become less agitated.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Example: "Please calm down and explain what happened."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4FBCD6-416C-9A99-0BEE-63F3BD71138D}"/>
              </a:ext>
            </a:extLst>
          </p:cNvPr>
          <p:cNvSpPr txBox="1"/>
          <p:nvPr/>
        </p:nvSpPr>
        <p:spPr>
          <a:xfrm>
            <a:off x="239910" y="2175161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4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957E02-C47D-C3CD-BA9D-289531FB6D71}"/>
              </a:ext>
            </a:extLst>
          </p:cNvPr>
          <p:cNvSpPr txBox="1"/>
          <p:nvPr/>
        </p:nvSpPr>
        <p:spPr>
          <a:xfrm>
            <a:off x="239910" y="362874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5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E6CD55-6BFC-773A-B448-BB60CAB81A66}"/>
              </a:ext>
            </a:extLst>
          </p:cNvPr>
          <p:cNvSpPr txBox="1"/>
          <p:nvPr/>
        </p:nvSpPr>
        <p:spPr>
          <a:xfrm>
            <a:off x="239910" y="508233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6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204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449262" y="773175"/>
            <a:ext cx="74639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Montserrat Bold" panose="00000800000000000000" pitchFamily="2" charset="0"/>
              </a:rPr>
              <a:t>Examples of Phrasal Verbs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901CB-DFD8-BBB8-0F69-353F2572BE95}"/>
              </a:ext>
            </a:extLst>
          </p:cNvPr>
          <p:cNvSpPr txBox="1"/>
          <p:nvPr/>
        </p:nvSpPr>
        <p:spPr>
          <a:xfrm>
            <a:off x="1469573" y="1805151"/>
            <a:ext cx="9252854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Look forward to: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Meaning: Anticipate with pleasure.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Example: "I'm looking forward to the weekend.“</a:t>
            </a:r>
          </a:p>
          <a:p>
            <a:endParaRPr lang="en-US" sz="2400" b="1" dirty="0">
              <a:solidFill>
                <a:schemeClr val="accent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Put up with: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Meaning: Tolerate or endure something unpleasant.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Example: "I can't put up with his constant complaining.“</a:t>
            </a:r>
          </a:p>
          <a:p>
            <a:endParaRPr lang="en-US" sz="2400" b="1" dirty="0">
              <a:solidFill>
                <a:schemeClr val="accent2">
                  <a:lumMod val="75000"/>
                </a:schemeClr>
              </a:solidFill>
              <a:latin typeface="Montserrat" panose="00000500000000000000" pitchFamily="2" charset="0"/>
            </a:endParaRPr>
          </a:p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Come across: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Meaning: Find or encounter by chance.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Example: "I came across an interesting book at the library."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81E594-7EEB-2F24-243E-B10C56625B9D}"/>
              </a:ext>
            </a:extLst>
          </p:cNvPr>
          <p:cNvSpPr txBox="1"/>
          <p:nvPr/>
        </p:nvSpPr>
        <p:spPr>
          <a:xfrm>
            <a:off x="789709" y="216130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7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C80794-DC28-E625-8AA3-84D2E82C6935}"/>
              </a:ext>
            </a:extLst>
          </p:cNvPr>
          <p:cNvSpPr txBox="1"/>
          <p:nvPr/>
        </p:nvSpPr>
        <p:spPr>
          <a:xfrm>
            <a:off x="789709" y="3614895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8</a:t>
            </a:r>
            <a:endParaRPr lang="en-IN" sz="3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F7FF77-C7B9-DC9D-8031-3D32297B6B74}"/>
              </a:ext>
            </a:extLst>
          </p:cNvPr>
          <p:cNvSpPr txBox="1"/>
          <p:nvPr/>
        </p:nvSpPr>
        <p:spPr>
          <a:xfrm>
            <a:off x="789709" y="5068482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9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767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364</Words>
  <Application>Microsoft Office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Aharoni</vt:lpstr>
      <vt:lpstr>Aptos Narrow</vt:lpstr>
      <vt:lpstr>Arial</vt:lpstr>
      <vt:lpstr>Calibri</vt:lpstr>
      <vt:lpstr>Calibri Light</vt:lpstr>
      <vt:lpstr>Montserrat</vt:lpstr>
      <vt:lpstr>Montserrat Bold</vt:lpstr>
      <vt:lpstr>Signatie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IPA BFSBC</dc:creator>
  <cp:lastModifiedBy>IPA BFSBC</cp:lastModifiedBy>
  <cp:revision>38</cp:revision>
  <dcterms:created xsi:type="dcterms:W3CDTF">2024-01-28T15:20:08Z</dcterms:created>
  <dcterms:modified xsi:type="dcterms:W3CDTF">2024-04-29T07:32:15Z</dcterms:modified>
</cp:coreProperties>
</file>