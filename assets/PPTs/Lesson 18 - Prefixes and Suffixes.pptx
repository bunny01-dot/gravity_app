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13411" y="1815554"/>
            <a:ext cx="4717179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Prefixes and Suffixes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370528" y="2516535"/>
            <a:ext cx="440294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Words and Expanding Vocabulary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445609" y="3141315"/>
            <a:ext cx="225278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Vocabulary • Word Formation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02147"/>
            <a:ext cx="7924800" cy="959941"/>
          </a:xfrm>
          <a:prstGeom prst="rect">
            <a:avLst/>
          </a:prstGeom>
          <a:solidFill>
            <a:srgbClr val="2A2A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Prefixes and Suffixes?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49561"/>
            <a:ext cx="8083296" cy="223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64"/>
              </a:lnSpc>
              <a:buNone/>
            </a:pPr>
            <a:r>
              <a:rPr lang="en-US" sz="126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Prefixes and suffixes</a:t>
            </a:r>
            <a:pPr indent="0" marL="0">
              <a:lnSpc>
                <a:spcPts val="1764"/>
              </a:lnSpc>
              <a:buNone/>
            </a:pPr>
            <a:r>
              <a:rPr lang="en-US" sz="126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 word parts added to root words to create new words with different meanings.</a:t>
            </a:r>
            <a:endParaRPr lang="en-US" sz="1260" dirty="0"/>
          </a:p>
        </p:txBody>
      </p:sp>
      <p:sp>
        <p:nvSpPr>
          <p:cNvPr id="5" name="Text 3"/>
          <p:cNvSpPr/>
          <p:nvPr/>
        </p:nvSpPr>
        <p:spPr>
          <a:xfrm>
            <a:off x="876300" y="1930747"/>
            <a:ext cx="75780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6300" y="2220218"/>
            <a:ext cx="75780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+ happy = unhappy (not happy)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Objectives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3257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what prefixes and suffixes are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common prefixes and their meanings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common suffixes and their functions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new words using affixes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67818"/>
            <a:ext cx="7924800" cy="959941"/>
          </a:xfrm>
          <a:prstGeom prst="rect">
            <a:avLst/>
          </a:prstGeom>
          <a:solidFill>
            <a:srgbClr val="2A2A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Prefix?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49561"/>
            <a:ext cx="8083296" cy="223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64"/>
              </a:lnSpc>
              <a:buNone/>
            </a:pPr>
            <a:r>
              <a:rPr lang="en-US" sz="126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lnSpc>
                <a:spcPts val="1764"/>
              </a:lnSpc>
              <a:buNone/>
            </a:pPr>
            <a:r>
              <a:rPr lang="en-US" sz="126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</a:t>
            </a:r>
            <a:pPr indent="0" marL="0">
              <a:lnSpc>
                <a:spcPts val="1764"/>
              </a:lnSpc>
              <a:buNone/>
            </a:pPr>
            <a:r>
              <a:rPr lang="en-US" sz="126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 word part added at the </a:t>
            </a:r>
            <a:pPr indent="0" marL="0">
              <a:lnSpc>
                <a:spcPts val="1764"/>
              </a:lnSpc>
              <a:buNone/>
            </a:pPr>
            <a:r>
              <a:rPr lang="en-US" sz="1260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beginning</a:t>
            </a:r>
            <a:pPr indent="0" marL="0">
              <a:lnSpc>
                <a:spcPts val="1764"/>
              </a:lnSpc>
              <a:buNone/>
            </a:pPr>
            <a:r>
              <a:rPr lang="en-US" sz="126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a root word.</a:t>
            </a:r>
            <a:endParaRPr lang="en-US" sz="1260" dirty="0"/>
          </a:p>
        </p:txBody>
      </p:sp>
      <p:sp>
        <p:nvSpPr>
          <p:cNvPr id="5" name="Text 3"/>
          <p:cNvSpPr/>
          <p:nvPr/>
        </p:nvSpPr>
        <p:spPr>
          <a:xfrm>
            <a:off x="609600" y="1625947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changes the word's meaning but usually keeps the same word class.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6300" y="2296418"/>
            <a:ext cx="75780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+ Root = New Word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76300" y="2585889"/>
            <a:ext cx="75780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+ lock = unlock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761"/>
            <a:ext cx="7924800" cy="460177"/>
          </a:xfrm>
          <a:prstGeom prst="rect">
            <a:avLst/>
          </a:prstGeom>
          <a:solidFill>
            <a:srgbClr val="2A2A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00238"/>
            <a:ext cx="7924800" cy="460177"/>
          </a:xfrm>
          <a:prstGeom prst="rect">
            <a:avLst/>
          </a:prstGeom>
          <a:solidFill>
            <a:srgbClr val="2A2A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474714"/>
            <a:ext cx="7924800" cy="460177"/>
          </a:xfrm>
          <a:prstGeom prst="rect">
            <a:avLst/>
          </a:prstGeom>
          <a:solidFill>
            <a:srgbClr val="2A2A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049191"/>
            <a:ext cx="7924800" cy="460177"/>
          </a:xfrm>
          <a:prstGeom prst="rect">
            <a:avLst/>
          </a:prstGeom>
          <a:solidFill>
            <a:srgbClr val="2A2A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Prefixes: Negation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52475" y="1440061"/>
            <a:ext cx="1955244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un-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2669381" y="1440061"/>
            <a:ext cx="5865733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unhappy, unsafe, unclear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752475" y="2014538"/>
            <a:ext cx="1955244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dis-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2669381" y="2014538"/>
            <a:ext cx="5865733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disappear, disconnect, dislike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752475" y="2589014"/>
            <a:ext cx="1955244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mis-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2669381" y="2589014"/>
            <a:ext cx="5865733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misunderstand, misspell, misbehave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752475" y="3163491"/>
            <a:ext cx="1955244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im-/in-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2669381" y="3163491"/>
            <a:ext cx="5865733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impossible, incomplete, insecure</a:t>
            </a:r>
            <a:endParaRPr lang="en-US" sz="11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761"/>
            <a:ext cx="7924800" cy="460177"/>
          </a:xfrm>
          <a:prstGeom prst="rect">
            <a:avLst/>
          </a:prstGeom>
          <a:solidFill>
            <a:srgbClr val="2A2A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00238"/>
            <a:ext cx="7924800" cy="460177"/>
          </a:xfrm>
          <a:prstGeom prst="rect">
            <a:avLst/>
          </a:prstGeom>
          <a:solidFill>
            <a:srgbClr val="2A2A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474714"/>
            <a:ext cx="7924800" cy="460177"/>
          </a:xfrm>
          <a:prstGeom prst="rect">
            <a:avLst/>
          </a:prstGeom>
          <a:solidFill>
            <a:srgbClr val="2A2A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049191"/>
            <a:ext cx="7924800" cy="460177"/>
          </a:xfrm>
          <a:prstGeom prst="rect">
            <a:avLst/>
          </a:prstGeom>
          <a:solidFill>
            <a:srgbClr val="2A2A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Prefixes: Quantity &amp; Direction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52475" y="1440061"/>
            <a:ext cx="1955244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2669381" y="1440061"/>
            <a:ext cx="5865733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rebuild, rewrite, restart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752475" y="2014538"/>
            <a:ext cx="1955244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2669381" y="2014538"/>
            <a:ext cx="5865733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preview, prepare, preschool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752475" y="2589014"/>
            <a:ext cx="1955244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2669381" y="2589014"/>
            <a:ext cx="5865733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overflow, overlook, overcome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752475" y="3163491"/>
            <a:ext cx="1955244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under-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2669381" y="3163491"/>
            <a:ext cx="5865733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underground, understand, undertake</a:t>
            </a:r>
            <a:endParaRPr lang="en-US" sz="11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761"/>
            <a:ext cx="7924800" cy="460177"/>
          </a:xfrm>
          <a:prstGeom prst="rect">
            <a:avLst/>
          </a:prstGeom>
          <a:solidFill>
            <a:srgbClr val="2A2A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00238"/>
            <a:ext cx="7924800" cy="460177"/>
          </a:xfrm>
          <a:prstGeom prst="rect">
            <a:avLst/>
          </a:prstGeom>
          <a:solidFill>
            <a:srgbClr val="2A2A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474714"/>
            <a:ext cx="7924800" cy="460177"/>
          </a:xfrm>
          <a:prstGeom prst="rect">
            <a:avLst/>
          </a:prstGeom>
          <a:solidFill>
            <a:srgbClr val="2A2A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049191"/>
            <a:ext cx="7924800" cy="460177"/>
          </a:xfrm>
          <a:prstGeom prst="rect">
            <a:avLst/>
          </a:prstGeom>
          <a:solidFill>
            <a:srgbClr val="2A2A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Common Prefixes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52475" y="1440061"/>
            <a:ext cx="1955244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co-/com-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2669381" y="1440061"/>
            <a:ext cx="5865733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cooperate, compare, common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752475" y="2014538"/>
            <a:ext cx="1955244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bi-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2669381" y="2014538"/>
            <a:ext cx="5865733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bicycle, bilingual, biweekly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752475" y="2589014"/>
            <a:ext cx="1955244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2669381" y="2589014"/>
            <a:ext cx="5865733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antibiotics, antidote, anticlimax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752475" y="3163491"/>
            <a:ext cx="1955244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trans-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2669381" y="3163491"/>
            <a:ext cx="5865733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transport, translate, transparent</a:t>
            </a:r>
            <a:endParaRPr lang="en-US" sz="11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67818"/>
            <a:ext cx="7924800" cy="959941"/>
          </a:xfrm>
          <a:prstGeom prst="rect">
            <a:avLst/>
          </a:prstGeom>
          <a:solidFill>
            <a:srgbClr val="2A2A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Suffix?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49561"/>
            <a:ext cx="8083296" cy="223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64"/>
              </a:lnSpc>
              <a:buNone/>
            </a:pPr>
            <a:r>
              <a:rPr lang="en-US" sz="126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lnSpc>
                <a:spcPts val="1764"/>
              </a:lnSpc>
              <a:buNone/>
            </a:pPr>
            <a:r>
              <a:rPr lang="en-US" sz="126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suffix</a:t>
            </a:r>
            <a:pPr indent="0" marL="0">
              <a:lnSpc>
                <a:spcPts val="1764"/>
              </a:lnSpc>
              <a:buNone/>
            </a:pPr>
            <a:r>
              <a:rPr lang="en-US" sz="126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 word part added at the </a:t>
            </a:r>
            <a:pPr indent="0" marL="0">
              <a:lnSpc>
                <a:spcPts val="1764"/>
              </a:lnSpc>
              <a:buNone/>
            </a:pPr>
            <a:r>
              <a:rPr lang="en-US" sz="1260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</a:t>
            </a:r>
            <a:pPr indent="0" marL="0">
              <a:lnSpc>
                <a:spcPts val="1764"/>
              </a:lnSpc>
              <a:buNone/>
            </a:pPr>
            <a:r>
              <a:rPr lang="en-US" sz="126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a root word.</a:t>
            </a:r>
            <a:endParaRPr lang="en-US" sz="1260" dirty="0"/>
          </a:p>
        </p:txBody>
      </p:sp>
      <p:sp>
        <p:nvSpPr>
          <p:cNvPr id="5" name="Text 3"/>
          <p:cNvSpPr/>
          <p:nvPr/>
        </p:nvSpPr>
        <p:spPr>
          <a:xfrm>
            <a:off x="609600" y="1625947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 change the word's meaning AND often changes the word class (noun, verb, adjective, etc.).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6300" y="2296418"/>
            <a:ext cx="75780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+ Suffix = New Word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76300" y="2585889"/>
            <a:ext cx="75780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 + ness = happiness (adjective → noun)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761"/>
            <a:ext cx="7924800" cy="460177"/>
          </a:xfrm>
          <a:prstGeom prst="rect">
            <a:avLst/>
          </a:prstGeom>
          <a:solidFill>
            <a:srgbClr val="2A2A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00238"/>
            <a:ext cx="7924800" cy="460177"/>
          </a:xfrm>
          <a:prstGeom prst="rect">
            <a:avLst/>
          </a:prstGeom>
          <a:solidFill>
            <a:srgbClr val="2A2A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474714"/>
            <a:ext cx="7924800" cy="460177"/>
          </a:xfrm>
          <a:prstGeom prst="rect">
            <a:avLst/>
          </a:prstGeom>
          <a:solidFill>
            <a:srgbClr val="2A2A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049191"/>
            <a:ext cx="7924800" cy="460177"/>
          </a:xfrm>
          <a:prstGeom prst="rect">
            <a:avLst/>
          </a:prstGeom>
          <a:solidFill>
            <a:srgbClr val="2A2A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Suffixes: Noun Formation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52475" y="1440061"/>
            <a:ext cx="1955244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-tion/-sion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2669381" y="1440061"/>
            <a:ext cx="5865733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creation, decision, information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752475" y="2014538"/>
            <a:ext cx="1955244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-ness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2669381" y="2014538"/>
            <a:ext cx="5865733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happiness, darkness, kindness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752475" y="2589014"/>
            <a:ext cx="1955244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-ment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2669381" y="2589014"/>
            <a:ext cx="5865733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movement, development, excitement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752475" y="3163491"/>
            <a:ext cx="1955244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-er/-or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2669381" y="3163491"/>
            <a:ext cx="5865733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teacher, actor, writer</a:t>
            </a:r>
            <a:endParaRPr lang="en-US" sz="11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761"/>
            <a:ext cx="7924800" cy="460177"/>
          </a:xfrm>
          <a:prstGeom prst="rect">
            <a:avLst/>
          </a:prstGeom>
          <a:solidFill>
            <a:srgbClr val="2A2A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00238"/>
            <a:ext cx="7924800" cy="460177"/>
          </a:xfrm>
          <a:prstGeom prst="rect">
            <a:avLst/>
          </a:prstGeom>
          <a:solidFill>
            <a:srgbClr val="2A2A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474714"/>
            <a:ext cx="7924800" cy="460177"/>
          </a:xfrm>
          <a:prstGeom prst="rect">
            <a:avLst/>
          </a:prstGeom>
          <a:solidFill>
            <a:srgbClr val="2A2A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049191"/>
            <a:ext cx="7924800" cy="460177"/>
          </a:xfrm>
          <a:prstGeom prst="rect">
            <a:avLst/>
          </a:prstGeom>
          <a:solidFill>
            <a:srgbClr val="2A2A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Suffixes: Adjective Formation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52475" y="1440061"/>
            <a:ext cx="1955244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-ful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2669381" y="1440061"/>
            <a:ext cx="5865733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beautiful, helpful, successful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752475" y="2014538"/>
            <a:ext cx="1955244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-less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2669381" y="2014538"/>
            <a:ext cx="5865733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helpless, hopeless, useless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752475" y="2589014"/>
            <a:ext cx="1955244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-able/-ible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2669381" y="2589014"/>
            <a:ext cx="5865733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possible, comfortable, reasonable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752475" y="3163491"/>
            <a:ext cx="1955244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-ous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2669381" y="3163491"/>
            <a:ext cx="5865733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dangerous, famous, generous</a:t>
            </a:r>
            <a:endParaRPr lang="en-US" sz="11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Suffixes: Verb &amp; Adverb Formation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 forming: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15232"/>
            <a:ext cx="7620000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ize: organize, realize, emphasize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ify: clarify, classify, simplify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575173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Adverb forming: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940844"/>
            <a:ext cx="7620000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ly: quickly, slowly, carefully, happily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Affixes in One Word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can have both prefix AND suffix: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15232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-happy-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unhappiness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-respect-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disrespectful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-understand-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able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understandable (note: un + under prefix stacks)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-build-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rebuilding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Prefix to Meaning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un- → a) not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re- → b) again / back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dis- → c) before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pre- → d) not / opposite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3055144"/>
            <a:ext cx="8083296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Answers: 1–a, 2–b, 3–d, 4–c</a:t>
            </a:r>
            <a:endParaRPr lang="en-US" sz="10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Suffix to Complete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 + _____ = ________ (noun)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beauty + _____ = ________ (adjective)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+ _____ = ________ (person)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+ _____ = ________ (adverb)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+ _____ = ________ (adjective meaning "without help")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Mistakes to Avoid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unhappyness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unhappiness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(drop y before -ness)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disaprove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disapprove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(double letter with dis-)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beautifulful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beautiful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(don't repeat suffix)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realizing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(wrong form) → 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realize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(verb suffix -ize)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22603" y="1002357"/>
            <a:ext cx="3498794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 Summary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742307" y="1718518"/>
            <a:ext cx="3964037" cy="2422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Prefixes go at the beginning; suffixes go at the end</a:t>
            </a:r>
            <a:endParaRPr lang="en-US" sz="1350" dirty="0"/>
          </a:p>
          <a:p>
            <a:pPr algn="l"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Prefixes mainly change meaning (un-, dis-, re-, pre-)</a:t>
            </a:r>
            <a:endParaRPr lang="en-US" sz="1350" dirty="0"/>
          </a:p>
          <a:p>
            <a:pPr algn="l"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Suffixes change meaning AND often word class</a:t>
            </a:r>
            <a:endParaRPr lang="en-US" sz="1350" dirty="0"/>
          </a:p>
          <a:p>
            <a:pPr algn="l"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common affixes to expand vocabulary quickly</a:t>
            </a:r>
            <a:endParaRPr lang="en-US" sz="1350" dirty="0"/>
          </a:p>
          <a:p>
            <a:pPr algn="l"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word can have multiple affixes</a:t>
            </a:r>
            <a:endParaRPr lang="en-US" sz="1350" dirty="0"/>
          </a:p>
          <a:p>
            <a:pPr algn="l"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Spelling rules apply (drop y, double letters, etc.)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458" y="1872704"/>
            <a:ext cx="3809083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8C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Vocabulary!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478462" y="2512665"/>
            <a:ext cx="41870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affixes to unlock thousands of new words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227860" y="3084165"/>
            <a:ext cx="68813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2025-12-18T05:15:06Z</dcterms:created>
  <dcterms:modified xsi:type="dcterms:W3CDTF">2025-12-18T05:15:06Z</dcterms:modified>
</cp:coreProperties>
</file>