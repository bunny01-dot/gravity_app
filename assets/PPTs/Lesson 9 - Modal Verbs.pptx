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DF29-994F-4016-A72F-FA035FF84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36878-561A-07F1-5BB5-3A8456C6B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FEED8-A0D0-F62F-B03B-047616EE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EDB3F-549E-EE9E-C348-062FB16B1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A14A6-AD7C-46C4-B2BF-870AE88E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85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377AD-E51D-4961-2357-4A3B492F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B6D4-D220-7E00-2043-97BF4CE7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BFE5-51B0-8F76-9EA1-AB9627A72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A4987-FBD0-078F-42C7-92EA735A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BC86E-FBB6-9711-A5D1-3540F44AF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9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4BC26-D83A-7B77-9027-71BF3942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3A666-9FDB-297A-5F20-5769C6D3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8E80C-732A-2A63-C2FC-42E575402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9D767-C239-35F9-EC13-B8A226C76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91574-FC30-138A-ED2A-FB692F5D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370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5034-AA35-99B9-FC59-34ADCEE4F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5D7426-886E-3EC9-AABC-8EEE1D1CB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3D36E6-D303-5EE5-25B8-C0144320B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A6557E-618B-A959-B873-09FF14916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B0AECC-F36F-1F1A-3977-CC87E6280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16510-4F28-CA06-D101-BAE71F211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643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52201-B5AE-163B-F61F-5C0F44874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C96307-3E99-9FC1-32FB-ABA0DA62C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176FF9-A7B1-B65B-3D08-BE1B58753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BDF89-81B9-49DE-9A84-D53D27D08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AB6D9A-BE20-6289-1768-22CD7CB5F2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5200BB-3BA0-56F0-0C1C-40E34F14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F459F0-9FE4-0EA4-9E11-896B914EA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143783-3387-666B-BBFE-0AB2502A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83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3C739-A682-0DF3-0417-776522A4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E69B4-B217-F44A-AEB4-A7A1E8E8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47F3B-A8D4-C3C3-AA08-D7EF016B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F91BC-6C82-B366-521F-A6D93887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62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E68CEF-ECCA-E4CF-960C-A827303B9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8E9057-F29F-B07D-7486-3B0A6BDC5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EA31C-0AB0-C4A5-88D7-76E6B6BA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545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43E1-EE33-C85C-335D-D0C532223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99CF8-15D0-D991-2636-358E89622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D545F-14EC-E670-91DA-D27C5B209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4593B-5A10-6FE0-804F-8806C96B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F9B53-457D-BCA9-79F1-CFACE9387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99203-2DA0-6665-A713-BA316456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88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C35A1-3F15-7C8E-9973-0C4BFEBFC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EEBA8B-6A12-443D-582F-1C1DE11E9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04B03E-829C-A89B-DEF4-956D8949EE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59819-931A-3CC2-36BC-19012E8C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FD8038-DA20-46C1-BE2B-704446EFB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0368A-BF1F-BB78-FFD0-8EF33DE9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3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D3315-5CDF-21DE-4236-389DED53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9DB7E-E672-75B4-204C-951794C43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775F3-35BB-57DF-908A-6B7F5901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78F3B-8B2B-9B71-4835-D04B5F2FB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FAE83-5B61-233C-A8C6-62877280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910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EDAAC-FF64-C3A4-BD3D-F33EB230C9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78314C-869E-7A74-EDFC-272ABE1073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98511-5020-12CE-7697-CD0FDB5BD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A7DE9-6E61-7342-2FE2-20C37C51D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69229-5968-F9F3-744A-AB29925F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8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41F230-F08F-88FB-9ED2-925D06F07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E0377-A45D-2469-26F5-C44A0755C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CB6F1-1915-2899-DE90-60A24026E9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74D1E-8B0A-4CB3-BD48-0F9F737E7124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BA894-39C2-64DC-A6F4-085688495C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D84B7-9EED-586C-0BB2-E5811B61A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D729F-9DD6-46CF-A9B1-FBFDFB02D5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64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4C1DC6-3E41-96A6-A7D6-EB4E0DAA8EA7}"/>
              </a:ext>
            </a:extLst>
          </p:cNvPr>
          <p:cNvSpPr txBox="1"/>
          <p:nvPr/>
        </p:nvSpPr>
        <p:spPr>
          <a:xfrm>
            <a:off x="690513" y="2589582"/>
            <a:ext cx="10810973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900" b="1" dirty="0">
                <a:ln w="5715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ENGLISH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47560C-F03A-851C-E4C0-4199A9A8B2B6}"/>
              </a:ext>
            </a:extLst>
          </p:cNvPr>
          <p:cNvSpPr txBox="1"/>
          <p:nvPr/>
        </p:nvSpPr>
        <p:spPr>
          <a:xfrm>
            <a:off x="690513" y="1488567"/>
            <a:ext cx="6058069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haroni" panose="02010803020104030203" pitchFamily="2" charset="-79"/>
                <a:cs typeface="Aharoni" panose="02010803020104030203" pitchFamily="2" charset="-79"/>
              </a:rPr>
              <a:t>SPOKEN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F995EFD6-756A-C993-DF1B-95B7BEA9A049}"/>
              </a:ext>
            </a:extLst>
          </p:cNvPr>
          <p:cNvSpPr/>
          <p:nvPr/>
        </p:nvSpPr>
        <p:spPr>
          <a:xfrm>
            <a:off x="10058400" y="0"/>
            <a:ext cx="1585913" cy="2000249"/>
          </a:xfrm>
          <a:prstGeom prst="foldedCorner">
            <a:avLst>
              <a:gd name="adj" fmla="val 307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 Narrow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03117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1688383" y="2273535"/>
            <a:ext cx="881523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>
                <a:solidFill>
                  <a:schemeClr val="accent2"/>
                </a:solidFill>
                <a:latin typeface="Montserrat" panose="00000500000000000000" pitchFamily="2" charset="0"/>
              </a:rPr>
              <a:t>MODAL VERBS</a:t>
            </a:r>
            <a:endParaRPr lang="en-IN" sz="8800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15B7B-451A-7805-2F71-54809FAA7883}"/>
              </a:ext>
            </a:extLst>
          </p:cNvPr>
          <p:cNvSpPr txBox="1"/>
          <p:nvPr/>
        </p:nvSpPr>
        <p:spPr>
          <a:xfrm>
            <a:off x="1766129" y="3865786"/>
            <a:ext cx="8659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(can, could, may, might, must, shall, should, will, would)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270EC5-615B-0F49-7A36-0FF3647E2A4E}"/>
              </a:ext>
            </a:extLst>
          </p:cNvPr>
          <p:cNvSpPr txBox="1"/>
          <p:nvPr/>
        </p:nvSpPr>
        <p:spPr>
          <a:xfrm>
            <a:off x="3557485" y="4669350"/>
            <a:ext cx="50770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It is also a kind of auxiliary verbs</a:t>
            </a:r>
            <a:endParaRPr lang="en-IN" sz="24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274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1017638" y="758194"/>
            <a:ext cx="67762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Montserrat" panose="00000500000000000000" pitchFamily="2" charset="0"/>
              </a:rPr>
              <a:t>TYPES OF MODAL VERBS</a:t>
            </a:r>
            <a:endParaRPr lang="en-IN" sz="4000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A33E4-2123-086B-E8F3-B3A8EEE99EA7}"/>
              </a:ext>
            </a:extLst>
          </p:cNvPr>
          <p:cNvSpPr txBox="1"/>
          <p:nvPr/>
        </p:nvSpPr>
        <p:spPr>
          <a:xfrm>
            <a:off x="2947542" y="1854829"/>
            <a:ext cx="6296917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Ability</a:t>
            </a:r>
            <a:r>
              <a:rPr lang="en-US" sz="40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		</a:t>
            </a:r>
            <a:r>
              <a:rPr lang="en-US" sz="4000" dirty="0">
                <a:solidFill>
                  <a:schemeClr val="bg1"/>
                </a:solidFill>
                <a:latin typeface="Montserrat" panose="00000500000000000000" pitchFamily="2" charset="0"/>
              </a:rPr>
              <a:t>can, could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Possibility</a:t>
            </a:r>
            <a:r>
              <a:rPr lang="en-US" sz="4000" dirty="0">
                <a:solidFill>
                  <a:schemeClr val="bg1"/>
                </a:solidFill>
                <a:latin typeface="Montserrat" panose="00000500000000000000" pitchFamily="2" charset="0"/>
              </a:rPr>
              <a:t> 	may, might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Necessity</a:t>
            </a:r>
            <a:r>
              <a:rPr lang="en-US" sz="4000" dirty="0">
                <a:solidFill>
                  <a:schemeClr val="bg1"/>
                </a:solidFill>
                <a:latin typeface="Montserrat" panose="00000500000000000000" pitchFamily="2" charset="0"/>
              </a:rPr>
              <a:t> 	must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Permission</a:t>
            </a:r>
            <a:r>
              <a:rPr lang="en-US" sz="4000" dirty="0">
                <a:solidFill>
                  <a:schemeClr val="bg1"/>
                </a:solidFill>
                <a:latin typeface="Montserrat" panose="00000500000000000000" pitchFamily="2" charset="0"/>
              </a:rPr>
              <a:t> 	may, can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Obligation</a:t>
            </a:r>
            <a:r>
              <a:rPr lang="en-US" sz="4000" dirty="0">
                <a:solidFill>
                  <a:schemeClr val="bg1"/>
                </a:solidFill>
                <a:latin typeface="Montserrat" panose="00000500000000000000" pitchFamily="2" charset="0"/>
              </a:rPr>
              <a:t> 	must, should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Willingness</a:t>
            </a:r>
            <a:r>
              <a:rPr lang="en-US" sz="4000" dirty="0">
                <a:solidFill>
                  <a:schemeClr val="bg1"/>
                </a:solidFill>
                <a:latin typeface="Montserrat" panose="00000500000000000000" pitchFamily="2" charset="0"/>
              </a:rPr>
              <a:t> 	will, would</a:t>
            </a:r>
            <a:endParaRPr lang="en-IN" sz="4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329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980657" y="1312376"/>
            <a:ext cx="53014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Montserrat" panose="00000500000000000000" pitchFamily="2" charset="0"/>
              </a:rPr>
              <a:t>Meaning and usage</a:t>
            </a:r>
            <a:endParaRPr lang="en-IN" sz="4000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A33E4-2123-086B-E8F3-B3A8EEE99EA7}"/>
              </a:ext>
            </a:extLst>
          </p:cNvPr>
          <p:cNvSpPr txBox="1"/>
          <p:nvPr/>
        </p:nvSpPr>
        <p:spPr>
          <a:xfrm>
            <a:off x="980657" y="2395156"/>
            <a:ext cx="10230686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Can/could: 		</a:t>
            </a: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ability, permission, possibility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May/might: 		</a:t>
            </a: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permission, possibility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Must: 			</a:t>
            </a: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necessity, obligation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Shall/should: 	</a:t>
            </a: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suggestion, obligation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</a:rPr>
              <a:t>Will/would: 		</a:t>
            </a: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willingness, future prediction</a:t>
            </a:r>
            <a:endParaRPr lang="en-IN" sz="4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759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980657" y="1824994"/>
            <a:ext cx="70022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Montserrat" panose="00000500000000000000" pitchFamily="2" charset="0"/>
              </a:rPr>
              <a:t>Modal Verbs for Politeness</a:t>
            </a:r>
            <a:endParaRPr lang="en-IN" sz="4000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A33E4-2123-086B-E8F3-B3A8EEE99EA7}"/>
              </a:ext>
            </a:extLst>
          </p:cNvPr>
          <p:cNvSpPr txBox="1"/>
          <p:nvPr/>
        </p:nvSpPr>
        <p:spPr>
          <a:xfrm>
            <a:off x="1811814" y="2907774"/>
            <a:ext cx="856837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"Could you please help me?"</a:t>
            </a:r>
          </a:p>
          <a:p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"Would you mind opening the window?"</a:t>
            </a:r>
          </a:p>
          <a:p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"May I borrow your pen?"</a:t>
            </a:r>
            <a:endParaRPr lang="en-IN" sz="4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24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689712" y="474112"/>
            <a:ext cx="28039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Montserrat" panose="00000500000000000000" pitchFamily="2" charset="0"/>
              </a:rPr>
              <a:t>Examples:</a:t>
            </a:r>
            <a:endParaRPr lang="en-IN" sz="4000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A33E4-2123-086B-E8F3-B3A8EEE99EA7}"/>
              </a:ext>
            </a:extLst>
          </p:cNvPr>
          <p:cNvSpPr txBox="1"/>
          <p:nvPr/>
        </p:nvSpPr>
        <p:spPr>
          <a:xfrm>
            <a:off x="1631705" y="1538271"/>
            <a:ext cx="715452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highlight>
                  <a:srgbClr val="800000"/>
                </a:highlight>
                <a:latin typeface="Montserrat" panose="00000500000000000000" pitchFamily="2" charset="0"/>
              </a:rPr>
              <a:t>Can (ability, permission):</a:t>
            </a:r>
          </a:p>
          <a:p>
            <a:endParaRPr lang="en-US" sz="3200" dirty="0">
              <a:solidFill>
                <a:schemeClr val="bg1"/>
              </a:solidFill>
              <a:highlight>
                <a:srgbClr val="800000"/>
              </a:highlight>
              <a:latin typeface="Montserrat" panose="000005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She can speak Spanish fluently.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Can I borrow your pen, please?</a:t>
            </a:r>
            <a:endParaRPr lang="en-IN" sz="4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57E1E-D4DC-9D90-9964-79A4EAF92FA9}"/>
              </a:ext>
            </a:extLst>
          </p:cNvPr>
          <p:cNvSpPr txBox="1"/>
          <p:nvPr/>
        </p:nvSpPr>
        <p:spPr>
          <a:xfrm>
            <a:off x="1631705" y="3947433"/>
            <a:ext cx="925445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highlight>
                  <a:srgbClr val="800000"/>
                </a:highlight>
                <a:latin typeface="Montserrat" panose="00000500000000000000" pitchFamily="2" charset="0"/>
              </a:rPr>
              <a:t>Could (past ability, polite request):</a:t>
            </a:r>
          </a:p>
          <a:p>
            <a:endParaRPr lang="en-US" sz="3200" dirty="0">
              <a:solidFill>
                <a:schemeClr val="bg1"/>
              </a:solidFill>
              <a:highlight>
                <a:srgbClr val="800000"/>
              </a:highlight>
              <a:latin typeface="Montserrat" panose="000005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When I was younger, I could run very fast.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Could you help me with this problem?</a:t>
            </a:r>
            <a:endParaRPr lang="en-IN" sz="4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36691-BC75-7BD0-C618-89180498E3C2}"/>
              </a:ext>
            </a:extLst>
          </p:cNvPr>
          <p:cNvSpPr txBox="1"/>
          <p:nvPr/>
        </p:nvSpPr>
        <p:spPr>
          <a:xfrm>
            <a:off x="568036" y="2008909"/>
            <a:ext cx="652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1</a:t>
            </a:r>
            <a:endParaRPr lang="en-IN" sz="7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A496A-DE6F-D1FD-C9F5-A085849E5DE5}"/>
              </a:ext>
            </a:extLst>
          </p:cNvPr>
          <p:cNvSpPr txBox="1"/>
          <p:nvPr/>
        </p:nvSpPr>
        <p:spPr>
          <a:xfrm>
            <a:off x="568035" y="4267200"/>
            <a:ext cx="652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2</a:t>
            </a:r>
            <a:endParaRPr lang="en-IN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300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568035" y="597004"/>
            <a:ext cx="28039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Montserrat" panose="00000500000000000000" pitchFamily="2" charset="0"/>
              </a:rPr>
              <a:t>Examples:</a:t>
            </a:r>
            <a:endParaRPr lang="en-IN" sz="4000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A33E4-2123-086B-E8F3-B3A8EEE99EA7}"/>
              </a:ext>
            </a:extLst>
          </p:cNvPr>
          <p:cNvSpPr txBox="1"/>
          <p:nvPr/>
        </p:nvSpPr>
        <p:spPr>
          <a:xfrm>
            <a:off x="1364997" y="1538271"/>
            <a:ext cx="703269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highlight>
                  <a:srgbClr val="800000"/>
                </a:highlight>
                <a:latin typeface="Montserrat" panose="00000500000000000000" pitchFamily="2" charset="0"/>
              </a:rPr>
              <a:t>May (permission, possibility):</a:t>
            </a:r>
          </a:p>
          <a:p>
            <a:endParaRPr lang="en-US" sz="3200" dirty="0">
              <a:solidFill>
                <a:schemeClr val="bg1"/>
              </a:solidFill>
              <a:highlight>
                <a:srgbClr val="800000"/>
              </a:highlight>
              <a:latin typeface="Montserrat" panose="00000500000000000000" pitchFamily="2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You may leave the room now.</a:t>
            </a:r>
          </a:p>
          <a:p>
            <a:pPr marL="742950" indent="-7429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It may rain later this evening</a:t>
            </a:r>
            <a:endParaRPr lang="en-IN" sz="3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57E1E-D4DC-9D90-9964-79A4EAF92FA9}"/>
              </a:ext>
            </a:extLst>
          </p:cNvPr>
          <p:cNvSpPr txBox="1"/>
          <p:nvPr/>
        </p:nvSpPr>
        <p:spPr>
          <a:xfrm>
            <a:off x="1364997" y="3947433"/>
            <a:ext cx="1082700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highlight>
                  <a:srgbClr val="800000"/>
                </a:highlight>
                <a:latin typeface="Montserrat" panose="00000500000000000000" pitchFamily="2" charset="0"/>
              </a:rPr>
              <a:t>Might (possibility, suggestion):</a:t>
            </a:r>
          </a:p>
          <a:p>
            <a:endParaRPr lang="en-US" sz="3200" dirty="0">
              <a:solidFill>
                <a:schemeClr val="bg1"/>
              </a:solidFill>
              <a:highlight>
                <a:srgbClr val="800000"/>
              </a:highlight>
              <a:latin typeface="Montserrat" panose="000005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He might come to the party if he finishes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You might want to consider applying for that job.</a:t>
            </a:r>
            <a:endParaRPr lang="en-IN" sz="4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36691-BC75-7BD0-C618-89180498E3C2}"/>
              </a:ext>
            </a:extLst>
          </p:cNvPr>
          <p:cNvSpPr txBox="1"/>
          <p:nvPr/>
        </p:nvSpPr>
        <p:spPr>
          <a:xfrm>
            <a:off x="568036" y="2008909"/>
            <a:ext cx="652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3</a:t>
            </a:r>
            <a:endParaRPr lang="en-IN" sz="7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A496A-DE6F-D1FD-C9F5-A085849E5DE5}"/>
              </a:ext>
            </a:extLst>
          </p:cNvPr>
          <p:cNvSpPr txBox="1"/>
          <p:nvPr/>
        </p:nvSpPr>
        <p:spPr>
          <a:xfrm>
            <a:off x="568035" y="4267200"/>
            <a:ext cx="652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4</a:t>
            </a:r>
            <a:endParaRPr lang="en-IN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95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568035" y="597004"/>
            <a:ext cx="28039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Montserrat" panose="00000500000000000000" pitchFamily="2" charset="0"/>
              </a:rPr>
              <a:t>Examples:</a:t>
            </a:r>
            <a:endParaRPr lang="en-IN" sz="4000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A33E4-2123-086B-E8F3-B3A8EEE99EA7}"/>
              </a:ext>
            </a:extLst>
          </p:cNvPr>
          <p:cNvSpPr txBox="1"/>
          <p:nvPr/>
        </p:nvSpPr>
        <p:spPr>
          <a:xfrm>
            <a:off x="1364997" y="1538271"/>
            <a:ext cx="1127263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highlight>
                  <a:srgbClr val="800000"/>
                </a:highlight>
                <a:latin typeface="Montserrat" panose="00000500000000000000" pitchFamily="2" charset="0"/>
              </a:rPr>
              <a:t>Must (necessity, obligation):</a:t>
            </a:r>
          </a:p>
          <a:p>
            <a:endParaRPr lang="en-US" sz="3200" dirty="0">
              <a:solidFill>
                <a:schemeClr val="bg1"/>
              </a:solidFill>
              <a:highlight>
                <a:srgbClr val="800000"/>
              </a:highlight>
              <a:latin typeface="Montserrat" panose="000005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Students must complete the assignment by Friday.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I must call my parents tonight.</a:t>
            </a:r>
            <a:endParaRPr lang="en-IN" sz="3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57E1E-D4DC-9D90-9964-79A4EAF92FA9}"/>
              </a:ext>
            </a:extLst>
          </p:cNvPr>
          <p:cNvSpPr txBox="1"/>
          <p:nvPr/>
        </p:nvSpPr>
        <p:spPr>
          <a:xfrm>
            <a:off x="1364997" y="3947433"/>
            <a:ext cx="1092318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highlight>
                  <a:srgbClr val="800000"/>
                </a:highlight>
                <a:latin typeface="Montserrat" panose="00000500000000000000" pitchFamily="2" charset="0"/>
              </a:rPr>
              <a:t>Shall (offer, suggestion, formal):</a:t>
            </a:r>
          </a:p>
          <a:p>
            <a:endParaRPr lang="en-US" sz="3200" dirty="0">
              <a:solidFill>
                <a:schemeClr val="bg1"/>
              </a:solidFill>
              <a:highlight>
                <a:srgbClr val="800000"/>
              </a:highlight>
              <a:latin typeface="Montserrat" panose="000005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Shall we go for a walk in the park?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I shall inform the committee about your proposal.</a:t>
            </a:r>
            <a:endParaRPr lang="en-IN" sz="4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36691-BC75-7BD0-C618-89180498E3C2}"/>
              </a:ext>
            </a:extLst>
          </p:cNvPr>
          <p:cNvSpPr txBox="1"/>
          <p:nvPr/>
        </p:nvSpPr>
        <p:spPr>
          <a:xfrm>
            <a:off x="387927" y="2228671"/>
            <a:ext cx="652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5</a:t>
            </a:r>
            <a:endParaRPr lang="en-IN" sz="7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A496A-DE6F-D1FD-C9F5-A085849E5DE5}"/>
              </a:ext>
            </a:extLst>
          </p:cNvPr>
          <p:cNvSpPr txBox="1"/>
          <p:nvPr/>
        </p:nvSpPr>
        <p:spPr>
          <a:xfrm>
            <a:off x="387926" y="4486962"/>
            <a:ext cx="652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6</a:t>
            </a:r>
            <a:endParaRPr lang="en-IN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3133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568035" y="597004"/>
            <a:ext cx="28039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Montserrat" panose="00000500000000000000" pitchFamily="2" charset="0"/>
              </a:rPr>
              <a:t>Examples:</a:t>
            </a:r>
            <a:endParaRPr lang="en-IN" sz="4000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A33E4-2123-086B-E8F3-B3A8EEE99EA7}"/>
              </a:ext>
            </a:extLst>
          </p:cNvPr>
          <p:cNvSpPr txBox="1"/>
          <p:nvPr/>
        </p:nvSpPr>
        <p:spPr>
          <a:xfrm>
            <a:off x="1364997" y="1538271"/>
            <a:ext cx="918392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highlight>
                  <a:srgbClr val="800000"/>
                </a:highlight>
                <a:latin typeface="Montserrat" panose="00000500000000000000" pitchFamily="2" charset="0"/>
              </a:rPr>
              <a:t>Should (advice, obligation):</a:t>
            </a:r>
          </a:p>
          <a:p>
            <a:endParaRPr lang="en-US" sz="3200" dirty="0">
              <a:solidFill>
                <a:schemeClr val="bg1"/>
              </a:solidFill>
              <a:highlight>
                <a:srgbClr val="800000"/>
              </a:highlight>
              <a:latin typeface="Montserrat" panose="000005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You should study for the exam to do well.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We should arrive at the airport early.</a:t>
            </a:r>
            <a:endParaRPr lang="en-IN" sz="3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B57E1E-D4DC-9D90-9964-79A4EAF92FA9}"/>
              </a:ext>
            </a:extLst>
          </p:cNvPr>
          <p:cNvSpPr txBox="1"/>
          <p:nvPr/>
        </p:nvSpPr>
        <p:spPr>
          <a:xfrm>
            <a:off x="1364997" y="3947433"/>
            <a:ext cx="8409674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highlight>
                  <a:srgbClr val="800000"/>
                </a:highlight>
                <a:latin typeface="Montserrat" panose="00000500000000000000" pitchFamily="2" charset="0"/>
              </a:rPr>
              <a:t>Will (willingness, future certainty):</a:t>
            </a:r>
          </a:p>
          <a:p>
            <a:endParaRPr lang="en-US" sz="3200" dirty="0">
              <a:solidFill>
                <a:schemeClr val="bg1"/>
              </a:solidFill>
              <a:highlight>
                <a:srgbClr val="800000"/>
              </a:highlight>
              <a:latin typeface="Montserrat" panose="000005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She will help you with the project.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I will call you as soon as I reach home.</a:t>
            </a:r>
            <a:endParaRPr lang="en-IN" sz="40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36691-BC75-7BD0-C618-89180498E3C2}"/>
              </a:ext>
            </a:extLst>
          </p:cNvPr>
          <p:cNvSpPr txBox="1"/>
          <p:nvPr/>
        </p:nvSpPr>
        <p:spPr>
          <a:xfrm>
            <a:off x="387927" y="2228671"/>
            <a:ext cx="652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7</a:t>
            </a:r>
            <a:endParaRPr lang="en-IN" sz="7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6A496A-DE6F-D1FD-C9F5-A085849E5DE5}"/>
              </a:ext>
            </a:extLst>
          </p:cNvPr>
          <p:cNvSpPr txBox="1"/>
          <p:nvPr/>
        </p:nvSpPr>
        <p:spPr>
          <a:xfrm>
            <a:off x="387926" y="4486962"/>
            <a:ext cx="652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8</a:t>
            </a:r>
            <a:endParaRPr lang="en-IN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255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CDE2F5-8E31-FA12-7A06-E0CE4F44FBD4}"/>
              </a:ext>
            </a:extLst>
          </p:cNvPr>
          <p:cNvSpPr txBox="1"/>
          <p:nvPr/>
        </p:nvSpPr>
        <p:spPr>
          <a:xfrm>
            <a:off x="568035" y="901804"/>
            <a:ext cx="28039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accent2"/>
                </a:solidFill>
                <a:latin typeface="Montserrat" panose="00000500000000000000" pitchFamily="2" charset="0"/>
              </a:rPr>
              <a:t>Examples:</a:t>
            </a:r>
            <a:endParaRPr lang="en-IN" sz="4000" dirty="0">
              <a:solidFill>
                <a:schemeClr val="accent2"/>
              </a:solidFill>
              <a:latin typeface="Montserrat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A33E4-2123-086B-E8F3-B3A8EEE99EA7}"/>
              </a:ext>
            </a:extLst>
          </p:cNvPr>
          <p:cNvSpPr txBox="1"/>
          <p:nvPr/>
        </p:nvSpPr>
        <p:spPr>
          <a:xfrm>
            <a:off x="1545105" y="2508089"/>
            <a:ext cx="979146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highlight>
                  <a:srgbClr val="800000"/>
                </a:highlight>
                <a:latin typeface="Montserrat" panose="00000500000000000000" pitchFamily="2" charset="0"/>
              </a:rPr>
              <a:t>Would (polite request, hypothetical situations):</a:t>
            </a:r>
          </a:p>
          <a:p>
            <a:endParaRPr lang="en-US" sz="3200" dirty="0">
              <a:solidFill>
                <a:schemeClr val="bg1"/>
              </a:solidFill>
              <a:highlight>
                <a:srgbClr val="800000"/>
              </a:highlight>
              <a:latin typeface="Montserrat" panose="00000500000000000000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Would you mind opening the window?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Montserrat" panose="00000500000000000000" pitchFamily="2" charset="0"/>
              </a:rPr>
              <a:t>If I were you, I would take a break.</a:t>
            </a:r>
            <a:endParaRPr lang="en-IN" sz="3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A36691-BC75-7BD0-C618-89180498E3C2}"/>
              </a:ext>
            </a:extLst>
          </p:cNvPr>
          <p:cNvSpPr txBox="1"/>
          <p:nvPr/>
        </p:nvSpPr>
        <p:spPr>
          <a:xfrm>
            <a:off x="568035" y="3198489"/>
            <a:ext cx="6527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9</a:t>
            </a:r>
            <a:endParaRPr lang="en-IN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53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374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Aharoni</vt:lpstr>
      <vt:lpstr>Aptos Narrow</vt:lpstr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IPA BFSBC</dc:creator>
  <cp:lastModifiedBy>IPA BFSBC</cp:lastModifiedBy>
  <cp:revision>31</cp:revision>
  <dcterms:created xsi:type="dcterms:W3CDTF">2024-01-28T15:20:08Z</dcterms:created>
  <dcterms:modified xsi:type="dcterms:W3CDTF">2024-04-29T06:52:47Z</dcterms:modified>
</cp:coreProperties>
</file>